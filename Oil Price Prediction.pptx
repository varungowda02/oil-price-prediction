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25"/>
  </p:notesMasterIdLst>
  <p:sldIdLst>
    <p:sldId id="256" r:id="rId2"/>
    <p:sldId id="278" r:id="rId3"/>
    <p:sldId id="257" r:id="rId4"/>
    <p:sldId id="258" r:id="rId5"/>
    <p:sldId id="259" r:id="rId6"/>
    <p:sldId id="260" r:id="rId7"/>
    <p:sldId id="270" r:id="rId8"/>
    <p:sldId id="277" r:id="rId9"/>
    <p:sldId id="271" r:id="rId10"/>
    <p:sldId id="272" r:id="rId11"/>
    <p:sldId id="273" r:id="rId12"/>
    <p:sldId id="274" r:id="rId13"/>
    <p:sldId id="275" r:id="rId14"/>
    <p:sldId id="261" r:id="rId15"/>
    <p:sldId id="262" r:id="rId16"/>
    <p:sldId id="263" r:id="rId17"/>
    <p:sldId id="264" r:id="rId18"/>
    <p:sldId id="276" r:id="rId19"/>
    <p:sldId id="265" r:id="rId20"/>
    <p:sldId id="266" r:id="rId21"/>
    <p:sldId id="267" r:id="rId22"/>
    <p:sldId id="268" r:id="rId23"/>
    <p:sldId id="269" r:id="rId24"/>
  </p:sldIdLst>
  <p:sldSz cx="12192000" cy="6858000"/>
  <p:notesSz cx="6858000" cy="12192000"/>
  <p:embeddedFontLst>
    <p:embeddedFont>
      <p:font typeface="Consolas" panose="020B0609020204030204" pitchFamily="49" charset="0"/>
      <p:regular r:id="rId26"/>
      <p:bold r:id="rId27"/>
      <p:italic r:id="rId28"/>
      <p:boldItalic r:id="rId29"/>
    </p:embeddedFont>
    <p:embeddedFont>
      <p:font typeface="Montserrat" panose="00000500000000000000" pitchFamily="2" charset="0"/>
      <p:regular r:id="rId30"/>
      <p:bold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13"/>
  </p:normalViewPr>
  <p:slideViewPr>
    <p:cSldViewPr snapToGrid="0" snapToObjects="1">
      <p:cViewPr varScale="1">
        <p:scale>
          <a:sx n="106" d="100"/>
          <a:sy n="106" d="100"/>
        </p:scale>
        <p:origin x="7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6039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a:t>
            </a:fld>
            <a:endParaRPr lang="en-US"/>
          </a:p>
        </p:txBody>
      </p:sp>
    </p:spTree>
    <p:extLst>
      <p:ext uri="{BB962C8B-B14F-4D97-AF65-F5344CB8AC3E}">
        <p14:creationId xmlns:p14="http://schemas.microsoft.com/office/powerpoint/2010/main" val="18117903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7</a:t>
            </a:fld>
            <a:endParaRPr lang="en-US"/>
          </a:p>
        </p:txBody>
      </p:sp>
    </p:spTree>
    <p:extLst>
      <p:ext uri="{BB962C8B-B14F-4D97-AF65-F5344CB8AC3E}">
        <p14:creationId xmlns:p14="http://schemas.microsoft.com/office/powerpoint/2010/main" val="30339195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8</a:t>
            </a:fld>
            <a:endParaRPr lang="en-US"/>
          </a:p>
        </p:txBody>
      </p:sp>
    </p:spTree>
    <p:extLst>
      <p:ext uri="{BB962C8B-B14F-4D97-AF65-F5344CB8AC3E}">
        <p14:creationId xmlns:p14="http://schemas.microsoft.com/office/powerpoint/2010/main" val="32390192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9</a:t>
            </a:fld>
            <a:endParaRPr lang="en-US"/>
          </a:p>
        </p:txBody>
      </p:sp>
    </p:spTree>
    <p:extLst>
      <p:ext uri="{BB962C8B-B14F-4D97-AF65-F5344CB8AC3E}">
        <p14:creationId xmlns:p14="http://schemas.microsoft.com/office/powerpoint/2010/main" val="39057432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10</a:t>
            </a:fld>
            <a:endParaRPr lang="en-US"/>
          </a:p>
        </p:txBody>
      </p:sp>
    </p:spTree>
    <p:extLst>
      <p:ext uri="{BB962C8B-B14F-4D97-AF65-F5344CB8AC3E}">
        <p14:creationId xmlns:p14="http://schemas.microsoft.com/office/powerpoint/2010/main" val="11773133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11</a:t>
            </a:fld>
            <a:endParaRPr lang="en-US"/>
          </a:p>
        </p:txBody>
      </p:sp>
    </p:spTree>
    <p:extLst>
      <p:ext uri="{BB962C8B-B14F-4D97-AF65-F5344CB8AC3E}">
        <p14:creationId xmlns:p14="http://schemas.microsoft.com/office/powerpoint/2010/main" val="39121032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12</a:t>
            </a:fld>
            <a:endParaRPr lang="en-US"/>
          </a:p>
        </p:txBody>
      </p:sp>
    </p:spTree>
    <p:extLst>
      <p:ext uri="{BB962C8B-B14F-4D97-AF65-F5344CB8AC3E}">
        <p14:creationId xmlns:p14="http://schemas.microsoft.com/office/powerpoint/2010/main" val="33091472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13</a:t>
            </a:fld>
            <a:endParaRPr lang="en-US"/>
          </a:p>
        </p:txBody>
      </p:sp>
    </p:spTree>
    <p:extLst>
      <p:ext uri="{BB962C8B-B14F-4D97-AF65-F5344CB8AC3E}">
        <p14:creationId xmlns:p14="http://schemas.microsoft.com/office/powerpoint/2010/main" val="2705274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18</a:t>
            </a:fld>
            <a:endParaRPr lang="en-US"/>
          </a:p>
        </p:txBody>
      </p:sp>
    </p:spTree>
    <p:extLst>
      <p:ext uri="{BB962C8B-B14F-4D97-AF65-F5344CB8AC3E}">
        <p14:creationId xmlns:p14="http://schemas.microsoft.com/office/powerpoint/2010/main" val="12779925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hyperlink" Target="https://pixabay.com/en/team-cooperation-cohesion-group-1028829/" TargetMode="Externa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4.sv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slides/_rels/slide15.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8.jpe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slides/_rels/slide21.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46.svg"/></Relationships>
</file>

<file path=ppt/slides/_rels/slide2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2" name="Object 1"/>
          <p:cNvSpPr/>
          <p:nvPr/>
        </p:nvSpPr>
        <p:spPr>
          <a:xfrm>
            <a:off x="380905" y="4938371"/>
            <a:ext cx="11560459" cy="917742"/>
          </a:xfrm>
          <a:prstGeom prst="rect">
            <a:avLst/>
          </a:prstGeom>
          <a:noFill/>
        </p:spPr>
        <p:txBody>
          <a:bodyPr wrap="square" lIns="0" tIns="0" rIns="0" bIns="0" rtlCol="0" anchor="ctr"/>
          <a:lstStyle/>
          <a:p>
            <a:pPr algn="l">
              <a:lnSpc>
                <a:spcPts val="7229"/>
              </a:lnSpc>
              <a:buNone/>
            </a:pPr>
            <a:r>
              <a:rPr lang="en-US" sz="5738" dirty="0">
                <a:solidFill>
                  <a:srgbClr val="FFFFFF"/>
                </a:solidFill>
                <a:latin typeface="Montserrat" pitchFamily="34" charset="0"/>
                <a:ea typeface="Montserrat" pitchFamily="34" charset="-122"/>
                <a:cs typeface="Montserrat" pitchFamily="34" charset="-120"/>
              </a:rPr>
              <a:t>Oil Price Prediction</a:t>
            </a:r>
            <a:endParaRPr lang="en-US" dirty="0"/>
          </a:p>
        </p:txBody>
      </p:sp>
      <p:sp>
        <p:nvSpPr>
          <p:cNvPr id="3" name="Object 2"/>
          <p:cNvSpPr/>
          <p:nvPr/>
        </p:nvSpPr>
        <p:spPr>
          <a:xfrm>
            <a:off x="380905" y="5961011"/>
            <a:ext cx="11560459" cy="575523"/>
          </a:xfrm>
          <a:prstGeom prst="rect">
            <a:avLst/>
          </a:prstGeom>
          <a:noFill/>
        </p:spPr>
        <p:txBody>
          <a:bodyPr wrap="square" lIns="0" tIns="0" rIns="0" bIns="0" rtlCol="0" anchor="ctr"/>
          <a:lstStyle/>
          <a:p>
            <a:pPr algn="l">
              <a:lnSpc>
                <a:spcPts val="2268"/>
              </a:lnSpc>
              <a:spcBef>
                <a:spcPts val="810"/>
              </a:spcBef>
              <a:buNone/>
            </a:pPr>
            <a:r>
              <a:rPr lang="en-US" sz="1620" dirty="0">
                <a:solidFill>
                  <a:srgbClr val="FFFFFF">
                    <a:alpha val="90000"/>
                  </a:srgbClr>
                </a:solidFill>
                <a:latin typeface="Montserrat" pitchFamily="34" charset="0"/>
                <a:ea typeface="Montserrat" pitchFamily="34" charset="-122"/>
                <a:cs typeface="Montserrat" pitchFamily="34" charset="-120"/>
              </a:rPr>
              <a:t>Explore machine learning models to forecast fluctuations in global crude oil prices and inform business decisions.</a:t>
            </a:r>
            <a:endParaRPr lang="en-US" dirty="0"/>
          </a:p>
        </p:txBody>
      </p:sp>
      <p:sp>
        <p:nvSpPr>
          <p:cNvPr id="4" name="Object 3"/>
          <p:cNvSpPr/>
          <p:nvPr/>
        </p:nvSpPr>
        <p:spPr>
          <a:xfrm>
            <a:off x="0" y="0"/>
            <a:ext cx="12188952" cy="4761309"/>
          </a:xfrm>
          <a:prstGeom prst="rect">
            <a:avLst/>
          </a:prstGeom>
          <a:solidFill>
            <a:srgbClr val="000000">
              <a:alpha val="0"/>
            </a:srgbClr>
          </a:solidFill>
        </p:spPr>
      </p:sp>
      <p:pic>
        <p:nvPicPr>
          <p:cNvPr id="5" name="Object 4" descr="crude oil chart"/>
          <p:cNvPicPr>
            <a:picLocks noChangeAspect="1"/>
          </p:cNvPicPr>
          <p:nvPr/>
        </p:nvPicPr>
        <p:blipFill>
          <a:blip r:embed="rId3"/>
          <a:srcRect t="30469" b="30469"/>
          <a:stretch/>
        </p:blipFill>
        <p:spPr>
          <a:xfrm>
            <a:off x="0" y="0"/>
            <a:ext cx="12188952" cy="4761309"/>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Object 1"/>
          <p:cNvSpPr/>
          <p:nvPr/>
        </p:nvSpPr>
        <p:spPr>
          <a:xfrm>
            <a:off x="0" y="362901"/>
            <a:ext cx="12188952" cy="509906"/>
          </a:xfrm>
          <a:prstGeom prst="rect">
            <a:avLst/>
          </a:prstGeom>
          <a:noFill/>
        </p:spPr>
        <p:txBody>
          <a:bodyPr wrap="square" lIns="0" tIns="0" rIns="0" bIns="0" rtlCol="0" anchor="t"/>
          <a:lstStyle/>
          <a:p>
            <a:pPr algn="ctr">
              <a:lnSpc>
                <a:spcPts val="4016"/>
              </a:lnSpc>
              <a:buNone/>
            </a:pPr>
            <a:r>
              <a:rPr lang="en-US" sz="3188" dirty="0">
                <a:solidFill>
                  <a:srgbClr val="FFFFFF"/>
                </a:solidFill>
                <a:latin typeface="Montserrat" pitchFamily="34" charset="0"/>
                <a:ea typeface="Montserrat" pitchFamily="34" charset="-122"/>
                <a:cs typeface="Montserrat" pitchFamily="34" charset="-120"/>
              </a:rPr>
              <a:t>Team Members</a:t>
            </a:r>
            <a:endParaRPr lang="en-US" dirty="0"/>
          </a:p>
        </p:txBody>
      </p:sp>
      <p:sp>
        <p:nvSpPr>
          <p:cNvPr id="9" name="Object 8"/>
          <p:cNvSpPr/>
          <p:nvPr/>
        </p:nvSpPr>
        <p:spPr>
          <a:xfrm>
            <a:off x="254144" y="2938755"/>
            <a:ext cx="4535786" cy="3566231"/>
          </a:xfrm>
          <a:prstGeom prst="rect">
            <a:avLst/>
          </a:prstGeom>
          <a:solidFill>
            <a:srgbClr val="14558C"/>
          </a:solidFill>
        </p:spPr>
        <p:txBody>
          <a:bodyPr/>
          <a:lstStyle/>
          <a:p>
            <a:endParaRPr lang="en-IN" dirty="0"/>
          </a:p>
        </p:txBody>
      </p:sp>
      <p:sp>
        <p:nvSpPr>
          <p:cNvPr id="10" name="Object 9"/>
          <p:cNvSpPr/>
          <p:nvPr/>
        </p:nvSpPr>
        <p:spPr>
          <a:xfrm>
            <a:off x="254143" y="2957695"/>
            <a:ext cx="4535786" cy="3566231"/>
          </a:xfrm>
          <a:prstGeom prst="rect">
            <a:avLst/>
          </a:prstGeom>
          <a:noFill/>
        </p:spPr>
        <p:txBody>
          <a:bodyPr wrap="square" lIns="0" tIns="0" rIns="0" bIns="0" rtlCol="0" anchor="ctr"/>
          <a:lstStyle/>
          <a:p>
            <a:pPr algn="ctr">
              <a:lnSpc>
                <a:spcPct val="150000"/>
              </a:lnSpc>
              <a:buNone/>
            </a:pPr>
            <a:r>
              <a:rPr lang="en-US" sz="2000" dirty="0" err="1">
                <a:solidFill>
                  <a:srgbClr val="FFFFFF"/>
                </a:solidFill>
                <a:latin typeface="Montserrat" pitchFamily="34" charset="0"/>
                <a:ea typeface="Montserrat" pitchFamily="34" charset="-122"/>
                <a:cs typeface="Montserrat" pitchFamily="34" charset="-120"/>
              </a:rPr>
              <a:t>Bhagaban</a:t>
            </a:r>
            <a:r>
              <a:rPr lang="en-US" sz="2000" dirty="0">
                <a:solidFill>
                  <a:srgbClr val="FFFFFF"/>
                </a:solidFill>
                <a:latin typeface="Montserrat" pitchFamily="34" charset="0"/>
                <a:ea typeface="Montserrat" pitchFamily="34" charset="-122"/>
                <a:cs typeface="Montserrat" pitchFamily="34" charset="-120"/>
              </a:rPr>
              <a:t> </a:t>
            </a:r>
            <a:r>
              <a:rPr lang="en-US" sz="2000" dirty="0" err="1">
                <a:solidFill>
                  <a:srgbClr val="FFFFFF"/>
                </a:solidFill>
                <a:latin typeface="Montserrat" pitchFamily="34" charset="0"/>
                <a:ea typeface="Montserrat" pitchFamily="34" charset="-122"/>
                <a:cs typeface="Montserrat" pitchFamily="34" charset="-120"/>
              </a:rPr>
              <a:t>Desudu</a:t>
            </a:r>
            <a:endParaRPr lang="en-US" sz="2000" dirty="0">
              <a:solidFill>
                <a:srgbClr val="FFFFFF"/>
              </a:solidFill>
              <a:latin typeface="Montserrat" pitchFamily="34" charset="0"/>
              <a:ea typeface="Montserrat" pitchFamily="34" charset="-122"/>
              <a:cs typeface="Montserrat" pitchFamily="34" charset="-120"/>
            </a:endParaRPr>
          </a:p>
          <a:p>
            <a:pPr algn="ctr">
              <a:lnSpc>
                <a:spcPct val="150000"/>
              </a:lnSpc>
              <a:buNone/>
            </a:pPr>
            <a:r>
              <a:rPr lang="en-US" sz="2000" dirty="0">
                <a:solidFill>
                  <a:srgbClr val="FFFFFF"/>
                </a:solidFill>
                <a:latin typeface="Montserrat" pitchFamily="34" charset="0"/>
                <a:ea typeface="Montserrat" pitchFamily="34" charset="-122"/>
                <a:cs typeface="Montserrat" pitchFamily="34" charset="-120"/>
              </a:rPr>
              <a:t>Rohit R</a:t>
            </a:r>
          </a:p>
          <a:p>
            <a:pPr algn="ctr">
              <a:lnSpc>
                <a:spcPct val="150000"/>
              </a:lnSpc>
              <a:buNone/>
            </a:pPr>
            <a:r>
              <a:rPr lang="en-US" sz="2000" dirty="0">
                <a:solidFill>
                  <a:srgbClr val="FFFFFF"/>
                </a:solidFill>
                <a:latin typeface="Montserrat" pitchFamily="34" charset="0"/>
                <a:ea typeface="Montserrat" pitchFamily="34" charset="-122"/>
                <a:cs typeface="Montserrat" pitchFamily="34" charset="-120"/>
              </a:rPr>
              <a:t>Varun Gowda s</a:t>
            </a:r>
          </a:p>
          <a:p>
            <a:pPr algn="ctr">
              <a:lnSpc>
                <a:spcPct val="150000"/>
              </a:lnSpc>
              <a:buNone/>
            </a:pPr>
            <a:r>
              <a:rPr lang="en-US" sz="2000" dirty="0">
                <a:solidFill>
                  <a:srgbClr val="FFFFFF"/>
                </a:solidFill>
                <a:latin typeface="Montserrat" pitchFamily="34" charset="0"/>
                <a:ea typeface="Montserrat" pitchFamily="34" charset="-122"/>
                <a:cs typeface="Montserrat" pitchFamily="34" charset="-120"/>
              </a:rPr>
              <a:t>Divya Santosh </a:t>
            </a:r>
            <a:r>
              <a:rPr lang="en-US" sz="2000" dirty="0" err="1">
                <a:solidFill>
                  <a:srgbClr val="FFFFFF"/>
                </a:solidFill>
                <a:latin typeface="Montserrat" pitchFamily="34" charset="0"/>
                <a:ea typeface="Montserrat" pitchFamily="34" charset="-122"/>
                <a:cs typeface="Montserrat" pitchFamily="34" charset="-120"/>
              </a:rPr>
              <a:t>Virkud</a:t>
            </a:r>
            <a:endParaRPr lang="en-US" sz="2000" dirty="0">
              <a:solidFill>
                <a:srgbClr val="FFFFFF"/>
              </a:solidFill>
              <a:latin typeface="Montserrat" pitchFamily="34" charset="0"/>
              <a:ea typeface="Montserrat" pitchFamily="34" charset="-122"/>
              <a:cs typeface="Montserrat" pitchFamily="34" charset="-120"/>
            </a:endParaRPr>
          </a:p>
          <a:p>
            <a:pPr algn="ctr">
              <a:lnSpc>
                <a:spcPct val="150000"/>
              </a:lnSpc>
              <a:buNone/>
            </a:pPr>
            <a:r>
              <a:rPr lang="en-US" sz="2000" dirty="0">
                <a:solidFill>
                  <a:srgbClr val="FFFFFF"/>
                </a:solidFill>
                <a:latin typeface="Montserrat" pitchFamily="34" charset="0"/>
                <a:ea typeface="Montserrat" pitchFamily="34" charset="-122"/>
                <a:cs typeface="Montserrat" pitchFamily="34" charset="-120"/>
              </a:rPr>
              <a:t>Anurag </a:t>
            </a:r>
            <a:r>
              <a:rPr lang="en-US" sz="2000" dirty="0" err="1">
                <a:solidFill>
                  <a:srgbClr val="FFFFFF"/>
                </a:solidFill>
                <a:latin typeface="Montserrat" pitchFamily="34" charset="0"/>
                <a:ea typeface="Montserrat" pitchFamily="34" charset="-122"/>
                <a:cs typeface="Montserrat" pitchFamily="34" charset="-120"/>
              </a:rPr>
              <a:t>Khilare</a:t>
            </a:r>
            <a:endParaRPr lang="en-US" sz="2000" dirty="0">
              <a:solidFill>
                <a:srgbClr val="FFFFFF"/>
              </a:solidFill>
              <a:latin typeface="Montserrat" pitchFamily="34" charset="0"/>
              <a:ea typeface="Montserrat" pitchFamily="34" charset="-122"/>
              <a:cs typeface="Montserrat" pitchFamily="34" charset="-120"/>
            </a:endParaRPr>
          </a:p>
          <a:p>
            <a:pPr algn="ctr">
              <a:lnSpc>
                <a:spcPct val="150000"/>
              </a:lnSpc>
              <a:buNone/>
            </a:pPr>
            <a:r>
              <a:rPr lang="en-US" sz="2000" dirty="0" err="1">
                <a:solidFill>
                  <a:srgbClr val="FFFFFF"/>
                </a:solidFill>
                <a:latin typeface="Montserrat" pitchFamily="34" charset="0"/>
                <a:ea typeface="Montserrat" pitchFamily="34" charset="-122"/>
                <a:cs typeface="Montserrat" pitchFamily="34" charset="-120"/>
              </a:rPr>
              <a:t>Alekya</a:t>
            </a:r>
            <a:r>
              <a:rPr lang="en-US" sz="2000" dirty="0">
                <a:solidFill>
                  <a:srgbClr val="FFFFFF"/>
                </a:solidFill>
                <a:latin typeface="Montserrat" pitchFamily="34" charset="0"/>
                <a:ea typeface="Montserrat" pitchFamily="34" charset="-122"/>
                <a:cs typeface="Montserrat" pitchFamily="34" charset="-120"/>
              </a:rPr>
              <a:t> Rani </a:t>
            </a:r>
            <a:r>
              <a:rPr lang="en-US" sz="2000" dirty="0" err="1">
                <a:solidFill>
                  <a:srgbClr val="FFFFFF"/>
                </a:solidFill>
                <a:latin typeface="Montserrat" pitchFamily="34" charset="0"/>
                <a:ea typeface="Montserrat" pitchFamily="34" charset="-122"/>
                <a:cs typeface="Montserrat" pitchFamily="34" charset="-120"/>
              </a:rPr>
              <a:t>Seeapu</a:t>
            </a:r>
            <a:endParaRPr lang="en-US" sz="1800" dirty="0">
              <a:solidFill>
                <a:srgbClr val="FFFFFF"/>
              </a:solidFill>
              <a:latin typeface="Montserrat" pitchFamily="34" charset="0"/>
              <a:ea typeface="Montserrat" pitchFamily="34" charset="-122"/>
              <a:cs typeface="Montserrat" pitchFamily="34" charset="-120"/>
            </a:endParaRPr>
          </a:p>
        </p:txBody>
      </p:sp>
      <p:sp>
        <p:nvSpPr>
          <p:cNvPr id="12" name="Object 8">
            <a:extLst>
              <a:ext uri="{FF2B5EF4-FFF2-40B4-BE49-F238E27FC236}">
                <a16:creationId xmlns:a16="http://schemas.microsoft.com/office/drawing/2014/main" id="{A890CE44-66FE-9EEF-9B0A-94BD8131143E}"/>
              </a:ext>
            </a:extLst>
          </p:cNvPr>
          <p:cNvSpPr/>
          <p:nvPr/>
        </p:nvSpPr>
        <p:spPr>
          <a:xfrm>
            <a:off x="254144" y="1432114"/>
            <a:ext cx="4535786" cy="1085582"/>
          </a:xfrm>
          <a:prstGeom prst="rect">
            <a:avLst/>
          </a:prstGeom>
          <a:solidFill>
            <a:srgbClr val="14558C"/>
          </a:solidFill>
        </p:spPr>
        <p:txBody>
          <a:bodyPr/>
          <a:lstStyle/>
          <a:p>
            <a:r>
              <a:rPr lang="en-US" sz="2000" b="1" dirty="0">
                <a:solidFill>
                  <a:schemeClr val="bg1"/>
                </a:solidFill>
                <a:latin typeface="Montserrat" panose="00000500000000000000" pitchFamily="2" charset="0"/>
                <a:cs typeface="Mongolian Baiti" panose="03000500000000000000" pitchFamily="66" charset="0"/>
              </a:rPr>
              <a:t>Mentor’s Name</a:t>
            </a:r>
            <a:r>
              <a:rPr lang="en-US" sz="2000" dirty="0">
                <a:solidFill>
                  <a:schemeClr val="bg1"/>
                </a:solidFill>
                <a:latin typeface="Montserrat" panose="00000500000000000000" pitchFamily="2" charset="0"/>
                <a:cs typeface="Mongolian Baiti" panose="03000500000000000000" pitchFamily="66" charset="0"/>
              </a:rPr>
              <a:t>: Stephy </a:t>
            </a:r>
          </a:p>
          <a:p>
            <a:endParaRPr lang="en-US" sz="2000" dirty="0">
              <a:solidFill>
                <a:schemeClr val="bg1"/>
              </a:solidFill>
              <a:latin typeface="Montserrat" panose="00000500000000000000" pitchFamily="2" charset="0"/>
              <a:cs typeface="Mongolian Baiti" panose="03000500000000000000" pitchFamily="66" charset="0"/>
            </a:endParaRPr>
          </a:p>
          <a:p>
            <a:r>
              <a:rPr lang="en-US" sz="2000" b="1" dirty="0">
                <a:solidFill>
                  <a:schemeClr val="bg1"/>
                </a:solidFill>
                <a:latin typeface="Montserrat" panose="00000500000000000000" pitchFamily="2" charset="0"/>
                <a:cs typeface="Mongolian Baiti" panose="03000500000000000000" pitchFamily="66" charset="0"/>
              </a:rPr>
              <a:t>Project Trainer</a:t>
            </a:r>
            <a:r>
              <a:rPr lang="en-US" sz="2000" dirty="0">
                <a:solidFill>
                  <a:schemeClr val="bg1"/>
                </a:solidFill>
                <a:latin typeface="Montserrat" panose="00000500000000000000" pitchFamily="2" charset="0"/>
                <a:cs typeface="Mongolian Baiti" panose="03000500000000000000" pitchFamily="66" charset="0"/>
              </a:rPr>
              <a:t>: </a:t>
            </a:r>
            <a:r>
              <a:rPr lang="en-US" sz="2000" dirty="0" err="1">
                <a:solidFill>
                  <a:schemeClr val="bg1"/>
                </a:solidFill>
                <a:latin typeface="Montserrat" panose="00000500000000000000" pitchFamily="2" charset="0"/>
                <a:cs typeface="Mongolian Baiti" panose="03000500000000000000" pitchFamily="66" charset="0"/>
              </a:rPr>
              <a:t>Sravani</a:t>
            </a:r>
            <a:endParaRPr lang="en-US" sz="2000" dirty="0">
              <a:solidFill>
                <a:schemeClr val="bg1"/>
              </a:solidFill>
              <a:latin typeface="Montserrat" panose="00000500000000000000" pitchFamily="2" charset="0"/>
              <a:cs typeface="Mongolian Baiti" panose="03000500000000000000" pitchFamily="66" charset="0"/>
            </a:endParaRPr>
          </a:p>
        </p:txBody>
      </p:sp>
      <p:pic>
        <p:nvPicPr>
          <p:cNvPr id="16" name="Picture 15">
            <a:extLst>
              <a:ext uri="{FF2B5EF4-FFF2-40B4-BE49-F238E27FC236}">
                <a16:creationId xmlns:a16="http://schemas.microsoft.com/office/drawing/2014/main" id="{73661744-088F-98DE-1964-A93952893A2E}"/>
              </a:ext>
            </a:extLst>
          </p:cNvPr>
          <p:cNvPicPr>
            <a:picLocks noChangeAspect="1"/>
          </p:cNvPicPr>
          <p:nvPr/>
        </p:nvPicPr>
        <p:blipFill>
          <a:blip r:embed="rId3"/>
          <a:stretch>
            <a:fillRect/>
          </a:stretch>
        </p:blipFill>
        <p:spPr>
          <a:xfrm>
            <a:off x="6183516" y="1291067"/>
            <a:ext cx="5265454" cy="5204032"/>
          </a:xfrm>
          <a:prstGeom prst="rect">
            <a:avLst/>
          </a:prstGeom>
        </p:spPr>
      </p:pic>
      <p:pic>
        <p:nvPicPr>
          <p:cNvPr id="14" name="Picture 13" descr="A group of people lifting a large rectangular object&#10;&#10;AI-generated content may be incorrect.">
            <a:extLst>
              <a:ext uri="{FF2B5EF4-FFF2-40B4-BE49-F238E27FC236}">
                <a16:creationId xmlns:a16="http://schemas.microsoft.com/office/drawing/2014/main" id="{B7B24364-A637-8244-B07F-4CE20FB9C929}"/>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6183517" y="1291067"/>
            <a:ext cx="5265452" cy="5204032"/>
          </a:xfrm>
          <a:prstGeom prst="rect">
            <a:avLst/>
          </a:prstGeom>
        </p:spPr>
      </p:pic>
    </p:spTree>
    <p:extLst>
      <p:ext uri="{BB962C8B-B14F-4D97-AF65-F5344CB8AC3E}">
        <p14:creationId xmlns:p14="http://schemas.microsoft.com/office/powerpoint/2010/main" val="15846411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Object 1"/>
          <p:cNvSpPr/>
          <p:nvPr/>
        </p:nvSpPr>
        <p:spPr>
          <a:xfrm>
            <a:off x="476131" y="476131"/>
            <a:ext cx="5730712" cy="5904024"/>
          </a:xfrm>
          <a:prstGeom prst="rect">
            <a:avLst/>
          </a:prstGeom>
          <a:solidFill>
            <a:srgbClr val="62A8BB"/>
          </a:solidFill>
        </p:spPr>
      </p:sp>
      <p:pic>
        <p:nvPicPr>
          <p:cNvPr id="3" name="Object 2" descr="crude oil"/>
          <p:cNvPicPr>
            <a:picLocks noChangeAspect="1"/>
          </p:cNvPicPr>
          <p:nvPr/>
        </p:nvPicPr>
        <p:blipFill>
          <a:blip r:embed="rId3"/>
          <a:srcRect l="17648" r="17648"/>
          <a:stretch/>
        </p:blipFill>
        <p:spPr>
          <a:xfrm>
            <a:off x="476131" y="476131"/>
            <a:ext cx="5730712" cy="5904024"/>
          </a:xfrm>
          <a:prstGeom prst="rect">
            <a:avLst/>
          </a:prstGeom>
        </p:spPr>
      </p:pic>
      <p:sp>
        <p:nvSpPr>
          <p:cNvPr id="4" name="Object 3"/>
          <p:cNvSpPr/>
          <p:nvPr/>
        </p:nvSpPr>
        <p:spPr>
          <a:xfrm>
            <a:off x="6490141" y="2319799"/>
            <a:ext cx="5415513" cy="509906"/>
          </a:xfrm>
          <a:prstGeom prst="rect">
            <a:avLst/>
          </a:prstGeom>
          <a:noFill/>
        </p:spPr>
        <p:txBody>
          <a:bodyPr wrap="square" lIns="0" tIns="0" rIns="0" bIns="0" rtlCol="0" anchor="ctr"/>
          <a:lstStyle/>
          <a:p>
            <a:pPr algn="ctr">
              <a:lnSpc>
                <a:spcPts val="4016"/>
              </a:lnSpc>
              <a:buNone/>
            </a:pPr>
            <a:r>
              <a:rPr lang="en-US" sz="3188" dirty="0">
                <a:solidFill>
                  <a:srgbClr val="2A2921"/>
                </a:solidFill>
                <a:latin typeface="Montserrat" pitchFamily="34" charset="0"/>
                <a:ea typeface="Montserrat" pitchFamily="34" charset="-122"/>
                <a:cs typeface="Montserrat" pitchFamily="34" charset="-120"/>
              </a:rPr>
              <a:t>Introduction</a:t>
            </a:r>
            <a:endParaRPr lang="en-US" dirty="0"/>
          </a:p>
        </p:txBody>
      </p:sp>
      <p:sp>
        <p:nvSpPr>
          <p:cNvPr id="5" name="Object 4"/>
          <p:cNvSpPr/>
          <p:nvPr/>
        </p:nvSpPr>
        <p:spPr>
          <a:xfrm>
            <a:off x="6490141" y="2938025"/>
            <a:ext cx="5415513" cy="1535522"/>
          </a:xfrm>
          <a:prstGeom prst="rect">
            <a:avLst/>
          </a:prstGeom>
          <a:noFill/>
        </p:spPr>
        <p:txBody>
          <a:bodyPr wrap="square" lIns="0" tIns="0" rIns="0" bIns="0" rtlCol="0" anchor="ctr"/>
          <a:lstStyle/>
          <a:p>
            <a:pPr algn="ctr">
              <a:lnSpc>
                <a:spcPts val="2016"/>
              </a:lnSpc>
              <a:spcBef>
                <a:spcPts val="836"/>
              </a:spcBef>
              <a:buNone/>
            </a:pPr>
            <a:r>
              <a:rPr lang="en-US" sz="1440" dirty="0">
                <a:solidFill>
                  <a:srgbClr val="5A5A4C"/>
                </a:solidFill>
                <a:latin typeface="Montserrat" pitchFamily="34" charset="0"/>
                <a:ea typeface="Montserrat" pitchFamily="34" charset="-122"/>
                <a:cs typeface="Montserrat" pitchFamily="34" charset="-120"/>
              </a:rPr>
              <a:t>This slide introduces the Oil Price Prediction project, which aims to forecast crude oil prices using machine learning techniques. The project's goal is to develop accurate predictive models that can be deployed in a Streamlit application, providing users with dynamic forecasts and insights.</a:t>
            </a:r>
            <a:endParaRPr lang="en-US"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00000"/>
        </a:solidFill>
        <a:effectLst/>
      </p:bgPr>
    </p:bg>
    <p:spTree>
      <p:nvGrpSpPr>
        <p:cNvPr id="1" name=""/>
        <p:cNvGrpSpPr/>
        <p:nvPr/>
      </p:nvGrpSpPr>
      <p:grpSpPr>
        <a:xfrm>
          <a:off x="0" y="0"/>
          <a:ext cx="0" cy="0"/>
          <a:chOff x="0" y="0"/>
          <a:chExt cx="0" cy="0"/>
        </a:xfrm>
      </p:grpSpPr>
      <p:sp>
        <p:nvSpPr>
          <p:cNvPr id="2" name="Object 1"/>
          <p:cNvSpPr/>
          <p:nvPr/>
        </p:nvSpPr>
        <p:spPr>
          <a:xfrm>
            <a:off x="0" y="362901"/>
            <a:ext cx="12188952" cy="509906"/>
          </a:xfrm>
          <a:prstGeom prst="rect">
            <a:avLst/>
          </a:prstGeom>
          <a:noFill/>
        </p:spPr>
        <p:txBody>
          <a:bodyPr wrap="square" lIns="0" tIns="0" rIns="0" bIns="0" rtlCol="0" anchor="t"/>
          <a:lstStyle/>
          <a:p>
            <a:pPr algn="ctr">
              <a:lnSpc>
                <a:spcPts val="4016"/>
              </a:lnSpc>
              <a:buNone/>
            </a:pPr>
            <a:r>
              <a:rPr lang="en-US" sz="3188" dirty="0">
                <a:solidFill>
                  <a:srgbClr val="FFFFFF"/>
                </a:solidFill>
                <a:latin typeface="Montserrat" pitchFamily="34" charset="0"/>
                <a:ea typeface="Montserrat" pitchFamily="34" charset="-122"/>
                <a:cs typeface="Montserrat" pitchFamily="34" charset="-120"/>
              </a:rPr>
              <a:t>Objective</a:t>
            </a:r>
            <a:endParaRPr lang="en-US" dirty="0"/>
          </a:p>
        </p:txBody>
      </p:sp>
      <p:pic>
        <p:nvPicPr>
          <p:cNvPr id="3" name="Object 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18654" y="2476625"/>
            <a:ext cx="723719" cy="771332"/>
          </a:xfrm>
          <a:prstGeom prst="rect">
            <a:avLst/>
          </a:prstGeom>
        </p:spPr>
      </p:pic>
      <p:sp>
        <p:nvSpPr>
          <p:cNvPr id="4" name="Object 3"/>
          <p:cNvSpPr/>
          <p:nvPr/>
        </p:nvSpPr>
        <p:spPr>
          <a:xfrm>
            <a:off x="1391255" y="3650734"/>
            <a:ext cx="4169002" cy="230328"/>
          </a:xfrm>
          <a:prstGeom prst="rect">
            <a:avLst/>
          </a:prstGeom>
          <a:noFill/>
        </p:spPr>
        <p:txBody>
          <a:bodyPr wrap="square" lIns="0" tIns="0" rIns="0" bIns="0" rtlCol="0" anchor="t"/>
          <a:lstStyle/>
          <a:p>
            <a:pPr algn="ctr">
              <a:lnSpc>
                <a:spcPts val="1814"/>
              </a:lnSpc>
              <a:buNone/>
            </a:pPr>
            <a:r>
              <a:rPr lang="en-US" sz="1440" dirty="0">
                <a:solidFill>
                  <a:srgbClr val="FFFFFF"/>
                </a:solidFill>
                <a:latin typeface="Montserrat" pitchFamily="34" charset="0"/>
                <a:ea typeface="Montserrat" pitchFamily="34" charset="-122"/>
                <a:cs typeface="Montserrat" pitchFamily="34" charset="-120"/>
              </a:rPr>
              <a:t>Importance of crude oil price forecasting</a:t>
            </a:r>
            <a:endParaRPr lang="en-US" dirty="0"/>
          </a:p>
        </p:txBody>
      </p:sp>
      <p:sp>
        <p:nvSpPr>
          <p:cNvPr id="5" name="Object 4"/>
          <p:cNvSpPr/>
          <p:nvPr/>
        </p:nvSpPr>
        <p:spPr>
          <a:xfrm>
            <a:off x="1391255" y="3966915"/>
            <a:ext cx="4169002" cy="426435"/>
          </a:xfrm>
          <a:prstGeom prst="rect">
            <a:avLst/>
          </a:prstGeom>
          <a:noFill/>
        </p:spPr>
        <p:txBody>
          <a:bodyPr wrap="square" lIns="0" tIns="0" rIns="0" bIns="0" rtlCol="0" anchor="t"/>
          <a:lstStyle/>
          <a:p>
            <a:pPr algn="ctr">
              <a:lnSpc>
                <a:spcPts val="1680"/>
              </a:lnSpc>
              <a:spcBef>
                <a:spcPts val="663"/>
              </a:spcBef>
              <a:buNone/>
            </a:pPr>
            <a:r>
              <a:rPr lang="en-US" sz="1200" dirty="0">
                <a:solidFill>
                  <a:srgbClr val="FFFFFF">
                    <a:alpha val="90000"/>
                  </a:srgbClr>
                </a:solidFill>
                <a:latin typeface="Montserrat" pitchFamily="34" charset="0"/>
                <a:ea typeface="Montserrat" pitchFamily="34" charset="-122"/>
                <a:cs typeface="Montserrat" pitchFamily="34" charset="-120"/>
              </a:rPr>
              <a:t>Economic volatility, business impact, and the need for accurate predictions</a:t>
            </a:r>
            <a:endParaRPr lang="en-US" dirty="0"/>
          </a:p>
        </p:txBody>
      </p:sp>
      <p:pic>
        <p:nvPicPr>
          <p:cNvPr id="6" name="Object 5"/>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55655" y="2510076"/>
            <a:ext cx="923694" cy="704674"/>
          </a:xfrm>
          <a:prstGeom prst="rect">
            <a:avLst/>
          </a:prstGeom>
        </p:spPr>
      </p:pic>
      <p:sp>
        <p:nvSpPr>
          <p:cNvPr id="7" name="Object 6"/>
          <p:cNvSpPr/>
          <p:nvPr/>
        </p:nvSpPr>
        <p:spPr>
          <a:xfrm>
            <a:off x="6749156" y="3650734"/>
            <a:ext cx="3928080" cy="230328"/>
          </a:xfrm>
          <a:prstGeom prst="rect">
            <a:avLst/>
          </a:prstGeom>
          <a:noFill/>
        </p:spPr>
        <p:txBody>
          <a:bodyPr wrap="square" lIns="0" tIns="0" rIns="0" bIns="0" rtlCol="0" anchor="t"/>
          <a:lstStyle/>
          <a:p>
            <a:pPr algn="ctr">
              <a:lnSpc>
                <a:spcPts val="1814"/>
              </a:lnSpc>
              <a:buNone/>
            </a:pPr>
            <a:r>
              <a:rPr lang="en-US" sz="1440" dirty="0">
                <a:solidFill>
                  <a:srgbClr val="FFFFFF"/>
                </a:solidFill>
                <a:latin typeface="Montserrat" pitchFamily="34" charset="0"/>
                <a:ea typeface="Montserrat" pitchFamily="34" charset="-122"/>
                <a:cs typeface="Montserrat" pitchFamily="34" charset="-120"/>
              </a:rPr>
              <a:t>Project objective</a:t>
            </a:r>
            <a:endParaRPr lang="en-US" dirty="0"/>
          </a:p>
        </p:txBody>
      </p:sp>
      <p:sp>
        <p:nvSpPr>
          <p:cNvPr id="8" name="Object 7"/>
          <p:cNvSpPr/>
          <p:nvPr/>
        </p:nvSpPr>
        <p:spPr>
          <a:xfrm>
            <a:off x="6749156" y="3966915"/>
            <a:ext cx="3928080" cy="639652"/>
          </a:xfrm>
          <a:prstGeom prst="rect">
            <a:avLst/>
          </a:prstGeom>
          <a:noFill/>
        </p:spPr>
        <p:txBody>
          <a:bodyPr wrap="square" lIns="0" tIns="0" rIns="0" bIns="0" rtlCol="0" anchor="t"/>
          <a:lstStyle/>
          <a:p>
            <a:pPr algn="ctr">
              <a:lnSpc>
                <a:spcPts val="1680"/>
              </a:lnSpc>
              <a:spcBef>
                <a:spcPts val="663"/>
              </a:spcBef>
              <a:buNone/>
            </a:pPr>
            <a:r>
              <a:rPr lang="en-US" sz="1200" dirty="0">
                <a:solidFill>
                  <a:srgbClr val="FFFFFF">
                    <a:alpha val="90000"/>
                  </a:srgbClr>
                </a:solidFill>
                <a:latin typeface="Montserrat" pitchFamily="34" charset="0"/>
                <a:ea typeface="Montserrat" pitchFamily="34" charset="-122"/>
                <a:cs typeface="Montserrat" pitchFamily="34" charset="-120"/>
              </a:rPr>
              <a:t>Develop machine learning models to forecast crude oil prices and deploy them in a Streamlit application</a:t>
            </a:r>
            <a:endParaRPr lang="en-US" dirty="0"/>
          </a:p>
        </p:txBody>
      </p:sp>
      <p:sp>
        <p:nvSpPr>
          <p:cNvPr id="9" name="Object 8"/>
          <p:cNvSpPr/>
          <p:nvPr/>
        </p:nvSpPr>
        <p:spPr>
          <a:xfrm>
            <a:off x="0" y="5713571"/>
            <a:ext cx="12188952" cy="1142714"/>
          </a:xfrm>
          <a:prstGeom prst="rect">
            <a:avLst/>
          </a:prstGeom>
          <a:solidFill>
            <a:srgbClr val="14558C"/>
          </a:solidFill>
        </p:spPr>
      </p:sp>
      <p:sp>
        <p:nvSpPr>
          <p:cNvPr id="10" name="Object 9"/>
          <p:cNvSpPr/>
          <p:nvPr/>
        </p:nvSpPr>
        <p:spPr>
          <a:xfrm>
            <a:off x="-57136" y="5992405"/>
            <a:ext cx="12303223" cy="575821"/>
          </a:xfrm>
          <a:prstGeom prst="rect">
            <a:avLst/>
          </a:prstGeom>
          <a:noFill/>
        </p:spPr>
        <p:txBody>
          <a:bodyPr wrap="square" lIns="0" tIns="0" rIns="0" bIns="0" rtlCol="0" anchor="ctr"/>
          <a:lstStyle/>
          <a:p>
            <a:pPr algn="ctr">
              <a:lnSpc>
                <a:spcPts val="2268"/>
              </a:lnSpc>
              <a:buNone/>
            </a:pPr>
            <a:r>
              <a:rPr lang="en-US" sz="1800" dirty="0">
                <a:solidFill>
                  <a:srgbClr val="FFFFFF"/>
                </a:solidFill>
                <a:latin typeface="Montserrat" pitchFamily="34" charset="0"/>
                <a:ea typeface="Montserrat" pitchFamily="34" charset="-122"/>
                <a:cs typeface="Montserrat" pitchFamily="34" charset="-120"/>
              </a:rPr>
              <a:t>This project aims to address the critical need for accurate crude oil price forecasting by leveraging machine learning models and deploying them in an interactive Streamlit application.</a:t>
            </a:r>
            <a:endParaRPr lang="en-US"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00000"/>
        </a:solidFill>
        <a:effectLst/>
      </p:bgPr>
    </p:bg>
    <p:spTree>
      <p:nvGrpSpPr>
        <p:cNvPr id="1" name=""/>
        <p:cNvGrpSpPr/>
        <p:nvPr/>
      </p:nvGrpSpPr>
      <p:grpSpPr>
        <a:xfrm>
          <a:off x="0" y="0"/>
          <a:ext cx="0" cy="0"/>
          <a:chOff x="0" y="0"/>
          <a:chExt cx="0" cy="0"/>
        </a:xfrm>
      </p:grpSpPr>
      <p:sp>
        <p:nvSpPr>
          <p:cNvPr id="2" name="Object 1"/>
          <p:cNvSpPr/>
          <p:nvPr/>
        </p:nvSpPr>
        <p:spPr>
          <a:xfrm>
            <a:off x="0" y="362901"/>
            <a:ext cx="12188952" cy="509906"/>
          </a:xfrm>
          <a:prstGeom prst="rect">
            <a:avLst/>
          </a:prstGeom>
          <a:noFill/>
        </p:spPr>
        <p:txBody>
          <a:bodyPr wrap="square" lIns="0" tIns="0" rIns="0" bIns="0" rtlCol="0" anchor="t"/>
          <a:lstStyle/>
          <a:p>
            <a:pPr algn="ctr">
              <a:lnSpc>
                <a:spcPts val="4016"/>
              </a:lnSpc>
              <a:buNone/>
            </a:pPr>
            <a:r>
              <a:rPr lang="en-US" sz="3188" dirty="0">
                <a:solidFill>
                  <a:srgbClr val="FFFFFF"/>
                </a:solidFill>
                <a:latin typeface="Montserrat" pitchFamily="34" charset="0"/>
                <a:ea typeface="Montserrat" pitchFamily="34" charset="-122"/>
                <a:cs typeface="Montserrat" pitchFamily="34" charset="-120"/>
              </a:rPr>
              <a:t>Dataset Overview</a:t>
            </a:r>
            <a:endParaRPr lang="en-US" dirty="0"/>
          </a:p>
        </p:txBody>
      </p:sp>
      <p:sp>
        <p:nvSpPr>
          <p:cNvPr id="3" name="Object 2"/>
          <p:cNvSpPr/>
          <p:nvPr/>
        </p:nvSpPr>
        <p:spPr>
          <a:xfrm>
            <a:off x="476131" y="1523619"/>
            <a:ext cx="3618595" cy="4237565"/>
          </a:xfrm>
          <a:prstGeom prst="rect">
            <a:avLst/>
          </a:prstGeom>
          <a:solidFill>
            <a:srgbClr val="F0B356"/>
          </a:solidFill>
        </p:spPr>
      </p:sp>
      <p:sp>
        <p:nvSpPr>
          <p:cNvPr id="5" name="Object 4"/>
          <p:cNvSpPr/>
          <p:nvPr/>
        </p:nvSpPr>
        <p:spPr>
          <a:xfrm>
            <a:off x="295201" y="5900453"/>
            <a:ext cx="3980455" cy="230328"/>
          </a:xfrm>
          <a:prstGeom prst="rect">
            <a:avLst/>
          </a:prstGeom>
          <a:noFill/>
        </p:spPr>
        <p:txBody>
          <a:bodyPr wrap="square" lIns="0" tIns="0" rIns="0" bIns="0" rtlCol="0" anchor="t"/>
          <a:lstStyle/>
          <a:p>
            <a:pPr algn="ctr">
              <a:lnSpc>
                <a:spcPts val="1814"/>
              </a:lnSpc>
              <a:buNone/>
            </a:pPr>
            <a:r>
              <a:rPr lang="en-US" sz="1440" dirty="0">
                <a:solidFill>
                  <a:srgbClr val="FFFFFF"/>
                </a:solidFill>
                <a:latin typeface="Montserrat" pitchFamily="34" charset="0"/>
                <a:ea typeface="Montserrat" pitchFamily="34" charset="-122"/>
                <a:cs typeface="Montserrat" pitchFamily="34" charset="-120"/>
              </a:rPr>
              <a:t>Dataset Overview</a:t>
            </a:r>
            <a:endParaRPr lang="en-US" dirty="0"/>
          </a:p>
        </p:txBody>
      </p:sp>
      <p:sp>
        <p:nvSpPr>
          <p:cNvPr id="6" name="Object 5"/>
          <p:cNvSpPr/>
          <p:nvPr/>
        </p:nvSpPr>
        <p:spPr>
          <a:xfrm>
            <a:off x="295201" y="6216633"/>
            <a:ext cx="3980455" cy="213217"/>
          </a:xfrm>
          <a:prstGeom prst="rect">
            <a:avLst/>
          </a:prstGeom>
          <a:noFill/>
        </p:spPr>
        <p:txBody>
          <a:bodyPr wrap="square" lIns="0" tIns="0" rIns="0" bIns="0" rtlCol="0" anchor="t"/>
          <a:lstStyle/>
          <a:p>
            <a:pPr algn="ctr">
              <a:lnSpc>
                <a:spcPts val="1680"/>
              </a:lnSpc>
              <a:spcBef>
                <a:spcPts val="663"/>
              </a:spcBef>
              <a:buNone/>
            </a:pPr>
            <a:r>
              <a:rPr lang="en-US" sz="1200" dirty="0">
                <a:solidFill>
                  <a:srgbClr val="FFFFFF">
                    <a:alpha val="90000"/>
                  </a:srgbClr>
                </a:solidFill>
                <a:latin typeface="Montserrat" pitchFamily="34" charset="0"/>
                <a:ea typeface="Montserrat" pitchFamily="34" charset="-122"/>
                <a:cs typeface="Montserrat" pitchFamily="34" charset="-120"/>
              </a:rPr>
              <a:t>Historical crude oil prices</a:t>
            </a:r>
            <a:endParaRPr lang="en-US" dirty="0"/>
          </a:p>
        </p:txBody>
      </p:sp>
      <p:sp>
        <p:nvSpPr>
          <p:cNvPr id="7" name="Object 6"/>
          <p:cNvSpPr/>
          <p:nvPr/>
        </p:nvSpPr>
        <p:spPr>
          <a:xfrm>
            <a:off x="4285178" y="1523619"/>
            <a:ext cx="3618595" cy="4237565"/>
          </a:xfrm>
          <a:prstGeom prst="rect">
            <a:avLst/>
          </a:prstGeom>
          <a:solidFill>
            <a:srgbClr val="F0B356"/>
          </a:solidFill>
        </p:spPr>
      </p:sp>
      <p:sp>
        <p:nvSpPr>
          <p:cNvPr id="9" name="Object 8"/>
          <p:cNvSpPr/>
          <p:nvPr/>
        </p:nvSpPr>
        <p:spPr>
          <a:xfrm>
            <a:off x="4104249" y="5900453"/>
            <a:ext cx="3980455" cy="230328"/>
          </a:xfrm>
          <a:prstGeom prst="rect">
            <a:avLst/>
          </a:prstGeom>
          <a:noFill/>
        </p:spPr>
        <p:txBody>
          <a:bodyPr wrap="square" lIns="0" tIns="0" rIns="0" bIns="0" rtlCol="0" anchor="t"/>
          <a:lstStyle/>
          <a:p>
            <a:pPr algn="ctr">
              <a:lnSpc>
                <a:spcPts val="1814"/>
              </a:lnSpc>
              <a:buNone/>
            </a:pPr>
            <a:r>
              <a:rPr lang="en-US" sz="1440" dirty="0">
                <a:solidFill>
                  <a:srgbClr val="FFFFFF"/>
                </a:solidFill>
                <a:latin typeface="Montserrat" pitchFamily="34" charset="0"/>
                <a:ea typeface="Montserrat" pitchFamily="34" charset="-122"/>
                <a:cs typeface="Montserrat" pitchFamily="34" charset="-120"/>
              </a:rPr>
              <a:t>Dataset Features</a:t>
            </a:r>
            <a:endParaRPr lang="en-US" dirty="0"/>
          </a:p>
        </p:txBody>
      </p:sp>
      <p:sp>
        <p:nvSpPr>
          <p:cNvPr id="10" name="Object 9"/>
          <p:cNvSpPr/>
          <p:nvPr/>
        </p:nvSpPr>
        <p:spPr>
          <a:xfrm>
            <a:off x="4104249" y="6216633"/>
            <a:ext cx="3980455" cy="213217"/>
          </a:xfrm>
          <a:prstGeom prst="rect">
            <a:avLst/>
          </a:prstGeom>
          <a:noFill/>
        </p:spPr>
        <p:txBody>
          <a:bodyPr wrap="square" lIns="0" tIns="0" rIns="0" bIns="0" rtlCol="0" anchor="t"/>
          <a:lstStyle/>
          <a:p>
            <a:pPr algn="ctr">
              <a:lnSpc>
                <a:spcPts val="1680"/>
              </a:lnSpc>
              <a:spcBef>
                <a:spcPts val="663"/>
              </a:spcBef>
              <a:buNone/>
            </a:pPr>
            <a:r>
              <a:rPr lang="en-IN" sz="1200" b="0" i="0" dirty="0">
                <a:solidFill>
                  <a:srgbClr val="CCCCCC"/>
                </a:solidFill>
                <a:effectLst/>
                <a:latin typeface="Consolas" panose="020B0609020204030204" pitchFamily="49" charset="0"/>
              </a:rPr>
              <a:t>'Date', 'Close/Last', 'Volume', 'Open', 'High', 'Low'</a:t>
            </a:r>
            <a:endParaRPr lang="en-US" dirty="0"/>
          </a:p>
        </p:txBody>
      </p:sp>
      <p:sp>
        <p:nvSpPr>
          <p:cNvPr id="11" name="Object 10"/>
          <p:cNvSpPr/>
          <p:nvPr/>
        </p:nvSpPr>
        <p:spPr>
          <a:xfrm>
            <a:off x="8094226" y="1523619"/>
            <a:ext cx="3618595" cy="4237565"/>
          </a:xfrm>
          <a:prstGeom prst="rect">
            <a:avLst/>
          </a:prstGeom>
          <a:solidFill>
            <a:srgbClr val="F0B356"/>
          </a:solidFill>
        </p:spPr>
      </p:sp>
      <p:sp>
        <p:nvSpPr>
          <p:cNvPr id="13" name="Object 12"/>
          <p:cNvSpPr/>
          <p:nvPr/>
        </p:nvSpPr>
        <p:spPr>
          <a:xfrm>
            <a:off x="7913296" y="5900453"/>
            <a:ext cx="3980455" cy="230328"/>
          </a:xfrm>
          <a:prstGeom prst="rect">
            <a:avLst/>
          </a:prstGeom>
          <a:noFill/>
        </p:spPr>
        <p:txBody>
          <a:bodyPr wrap="square" lIns="0" tIns="0" rIns="0" bIns="0" rtlCol="0" anchor="t"/>
          <a:lstStyle/>
          <a:p>
            <a:pPr algn="ctr">
              <a:lnSpc>
                <a:spcPts val="1814"/>
              </a:lnSpc>
              <a:buNone/>
            </a:pPr>
            <a:r>
              <a:rPr lang="en-US" sz="1440" dirty="0">
                <a:solidFill>
                  <a:srgbClr val="FFFFFF"/>
                </a:solidFill>
                <a:latin typeface="Montserrat" pitchFamily="34" charset="0"/>
                <a:ea typeface="Montserrat" pitchFamily="34" charset="-122"/>
                <a:cs typeface="Montserrat" pitchFamily="34" charset="-120"/>
              </a:rPr>
              <a:t>Dataset Size and Info</a:t>
            </a:r>
            <a:endParaRPr lang="en-US" dirty="0"/>
          </a:p>
        </p:txBody>
      </p:sp>
      <p:sp>
        <p:nvSpPr>
          <p:cNvPr id="14" name="Object 13"/>
          <p:cNvSpPr/>
          <p:nvPr/>
        </p:nvSpPr>
        <p:spPr>
          <a:xfrm>
            <a:off x="7913296" y="6216633"/>
            <a:ext cx="3980455" cy="213217"/>
          </a:xfrm>
          <a:prstGeom prst="rect">
            <a:avLst/>
          </a:prstGeom>
          <a:noFill/>
        </p:spPr>
        <p:txBody>
          <a:bodyPr wrap="square" lIns="0" tIns="0" rIns="0" bIns="0" rtlCol="0" anchor="t"/>
          <a:lstStyle/>
          <a:p>
            <a:pPr algn="ctr">
              <a:lnSpc>
                <a:spcPts val="1680"/>
              </a:lnSpc>
              <a:spcBef>
                <a:spcPts val="663"/>
              </a:spcBef>
              <a:buNone/>
            </a:pPr>
            <a:r>
              <a:rPr lang="en-US" sz="1200" dirty="0">
                <a:solidFill>
                  <a:srgbClr val="FFFFFF">
                    <a:alpha val="90000"/>
                  </a:srgbClr>
                </a:solidFill>
                <a:latin typeface="Montserrat" pitchFamily="34" charset="0"/>
                <a:ea typeface="Montserrat" pitchFamily="34" charset="-122"/>
                <a:cs typeface="Montserrat" pitchFamily="34" charset="-120"/>
              </a:rPr>
              <a:t>Over 2548 entries</a:t>
            </a:r>
            <a:endParaRPr lang="en-US" dirty="0"/>
          </a:p>
        </p:txBody>
      </p:sp>
      <p:pic>
        <p:nvPicPr>
          <p:cNvPr id="16" name="Picture 15">
            <a:extLst>
              <a:ext uri="{FF2B5EF4-FFF2-40B4-BE49-F238E27FC236}">
                <a16:creationId xmlns:a16="http://schemas.microsoft.com/office/drawing/2014/main" id="{699F441F-5ECB-CDEF-0A45-89FE9F4B24FF}"/>
              </a:ext>
            </a:extLst>
          </p:cNvPr>
          <p:cNvPicPr>
            <a:picLocks noChangeAspect="1"/>
          </p:cNvPicPr>
          <p:nvPr/>
        </p:nvPicPr>
        <p:blipFill>
          <a:blip r:embed="rId3"/>
          <a:stretch>
            <a:fillRect/>
          </a:stretch>
        </p:blipFill>
        <p:spPr>
          <a:xfrm>
            <a:off x="476131" y="1523619"/>
            <a:ext cx="7427641" cy="4237564"/>
          </a:xfrm>
          <a:prstGeom prst="rect">
            <a:avLst/>
          </a:prstGeom>
        </p:spPr>
      </p:pic>
      <p:pic>
        <p:nvPicPr>
          <p:cNvPr id="22" name="Picture 21">
            <a:extLst>
              <a:ext uri="{FF2B5EF4-FFF2-40B4-BE49-F238E27FC236}">
                <a16:creationId xmlns:a16="http://schemas.microsoft.com/office/drawing/2014/main" id="{4E7CDF7C-9E10-9B0F-8959-0FA1C7598378}"/>
              </a:ext>
            </a:extLst>
          </p:cNvPr>
          <p:cNvPicPr>
            <a:picLocks noChangeAspect="1"/>
          </p:cNvPicPr>
          <p:nvPr/>
        </p:nvPicPr>
        <p:blipFill>
          <a:blip r:embed="rId4"/>
          <a:stretch>
            <a:fillRect/>
          </a:stretch>
        </p:blipFill>
        <p:spPr>
          <a:xfrm>
            <a:off x="8078668" y="1514564"/>
            <a:ext cx="3634153" cy="424662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5869742" y="476131"/>
            <a:ext cx="5843079" cy="5904024"/>
          </a:xfrm>
          <a:prstGeom prst="rect">
            <a:avLst/>
          </a:prstGeom>
          <a:solidFill>
            <a:srgbClr val="62A8BB"/>
          </a:solidFill>
        </p:spPr>
      </p:sp>
      <p:sp>
        <p:nvSpPr>
          <p:cNvPr id="4" name="Object 3"/>
          <p:cNvSpPr/>
          <p:nvPr/>
        </p:nvSpPr>
        <p:spPr>
          <a:xfrm>
            <a:off x="1067233" y="1810339"/>
            <a:ext cx="3735277" cy="1019813"/>
          </a:xfrm>
          <a:prstGeom prst="rect">
            <a:avLst/>
          </a:prstGeom>
          <a:noFill/>
        </p:spPr>
        <p:txBody>
          <a:bodyPr wrap="square" lIns="0" tIns="0" rIns="0" bIns="0" rtlCol="0" anchor="ctr"/>
          <a:lstStyle/>
          <a:p>
            <a:pPr algn="ctr">
              <a:lnSpc>
                <a:spcPts val="4016"/>
              </a:lnSpc>
              <a:buNone/>
            </a:pPr>
            <a:r>
              <a:rPr lang="en-US" sz="3188" dirty="0">
                <a:solidFill>
                  <a:srgbClr val="2A2921"/>
                </a:solidFill>
                <a:latin typeface="Montserrat" pitchFamily="34" charset="0"/>
                <a:ea typeface="Montserrat" pitchFamily="34" charset="-122"/>
                <a:cs typeface="Montserrat" pitchFamily="34" charset="-120"/>
              </a:rPr>
              <a:t>Exploratory Data Analysis (EDA)</a:t>
            </a:r>
            <a:endParaRPr lang="en-US" dirty="0"/>
          </a:p>
        </p:txBody>
      </p:sp>
      <p:sp>
        <p:nvSpPr>
          <p:cNvPr id="5" name="Object 4"/>
          <p:cNvSpPr/>
          <p:nvPr/>
        </p:nvSpPr>
        <p:spPr>
          <a:xfrm>
            <a:off x="326626" y="2938472"/>
            <a:ext cx="5216491" cy="2047363"/>
          </a:xfrm>
          <a:prstGeom prst="rect">
            <a:avLst/>
          </a:prstGeom>
          <a:noFill/>
        </p:spPr>
        <p:txBody>
          <a:bodyPr wrap="square" lIns="0" tIns="0" rIns="0" bIns="0" rtlCol="0" anchor="ctr"/>
          <a:lstStyle/>
          <a:p>
            <a:pPr algn="ctr">
              <a:lnSpc>
                <a:spcPts val="2016"/>
              </a:lnSpc>
              <a:spcBef>
                <a:spcPts val="836"/>
              </a:spcBef>
              <a:buNone/>
            </a:pPr>
            <a:r>
              <a:rPr lang="en-US" sz="1440" dirty="0">
                <a:solidFill>
                  <a:srgbClr val="5A5A4C"/>
                </a:solidFill>
                <a:latin typeface="Montserrat" pitchFamily="34" charset="0"/>
                <a:ea typeface="Montserrat" pitchFamily="34" charset="-122"/>
                <a:cs typeface="Montserrat" pitchFamily="34" charset="-120"/>
              </a:rPr>
              <a:t>The Exploratory Data Analysis (EDA) for the Oil Price Prediction project has revealed several key insights. The analysis of the historical crude oil price data shows clear trends and seasonal patterns, with significant volatility and outliers detected. A line chart visualizing the oil price over time provides a clear representation of these insights, highlighting the fluctuations and changes in the market.</a:t>
            </a:r>
            <a:endParaRPr lang="en-US" dirty="0"/>
          </a:p>
        </p:txBody>
      </p:sp>
      <p:pic>
        <p:nvPicPr>
          <p:cNvPr id="7" name="Picture 6">
            <a:extLst>
              <a:ext uri="{FF2B5EF4-FFF2-40B4-BE49-F238E27FC236}">
                <a16:creationId xmlns:a16="http://schemas.microsoft.com/office/drawing/2014/main" id="{5D067825-31F2-D5C5-18DA-FCB3076CB607}"/>
              </a:ext>
            </a:extLst>
          </p:cNvPr>
          <p:cNvPicPr>
            <a:picLocks noChangeAspect="1"/>
          </p:cNvPicPr>
          <p:nvPr/>
        </p:nvPicPr>
        <p:blipFill>
          <a:blip r:embed="rId3"/>
          <a:stretch>
            <a:fillRect/>
          </a:stretch>
        </p:blipFill>
        <p:spPr>
          <a:xfrm>
            <a:off x="5869742" y="476131"/>
            <a:ext cx="5904024" cy="590402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597528" y="1095469"/>
            <a:ext cx="11115294" cy="5284685"/>
          </a:xfrm>
          <a:prstGeom prst="rect">
            <a:avLst/>
          </a:prstGeom>
          <a:solidFill>
            <a:srgbClr val="62A8BB"/>
          </a:solidFill>
        </p:spPr>
      </p:sp>
      <p:sp>
        <p:nvSpPr>
          <p:cNvPr id="4" name="Object 3"/>
          <p:cNvSpPr/>
          <p:nvPr/>
        </p:nvSpPr>
        <p:spPr>
          <a:xfrm>
            <a:off x="418234" y="262196"/>
            <a:ext cx="3735277" cy="833273"/>
          </a:xfrm>
          <a:prstGeom prst="rect">
            <a:avLst/>
          </a:prstGeom>
          <a:noFill/>
        </p:spPr>
        <p:txBody>
          <a:bodyPr wrap="square" lIns="0" tIns="0" rIns="0" bIns="0" rtlCol="0" anchor="ctr"/>
          <a:lstStyle/>
          <a:p>
            <a:r>
              <a:rPr lang="en-IN" sz="3200" b="0" dirty="0">
                <a:solidFill>
                  <a:srgbClr val="CE9178"/>
                </a:solidFill>
                <a:effectLst/>
                <a:latin typeface="Courier New" panose="02070309020205020404" pitchFamily="49" charset="0"/>
              </a:rPr>
              <a:t>Crude Oil Price</a:t>
            </a:r>
            <a:endParaRPr lang="en-IN" sz="3200" b="0" dirty="0">
              <a:solidFill>
                <a:srgbClr val="D4D4D4"/>
              </a:solidFill>
              <a:effectLst/>
              <a:latin typeface="Courier New" panose="02070309020205020404" pitchFamily="49" charset="0"/>
            </a:endParaRPr>
          </a:p>
        </p:txBody>
      </p:sp>
      <p:pic>
        <p:nvPicPr>
          <p:cNvPr id="6" name="Picture 5">
            <a:extLst>
              <a:ext uri="{FF2B5EF4-FFF2-40B4-BE49-F238E27FC236}">
                <a16:creationId xmlns:a16="http://schemas.microsoft.com/office/drawing/2014/main" id="{CBFF6529-8AA1-614A-C5DB-587BDC29A60E}"/>
              </a:ext>
            </a:extLst>
          </p:cNvPr>
          <p:cNvPicPr>
            <a:picLocks noChangeAspect="1"/>
          </p:cNvPicPr>
          <p:nvPr/>
        </p:nvPicPr>
        <p:blipFill>
          <a:blip r:embed="rId3"/>
          <a:srcRect l="1053"/>
          <a:stretch/>
        </p:blipFill>
        <p:spPr>
          <a:xfrm>
            <a:off x="597528" y="1095469"/>
            <a:ext cx="11115291" cy="5284685"/>
          </a:xfrm>
          <a:prstGeom prst="rect">
            <a:avLst/>
          </a:prstGeom>
        </p:spPr>
      </p:pic>
    </p:spTree>
    <p:extLst>
      <p:ext uri="{BB962C8B-B14F-4D97-AF65-F5344CB8AC3E}">
        <p14:creationId xmlns:p14="http://schemas.microsoft.com/office/powerpoint/2010/main" val="16918326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597528" y="1095469"/>
            <a:ext cx="9569514" cy="5284685"/>
          </a:xfrm>
          <a:prstGeom prst="rect">
            <a:avLst/>
          </a:prstGeom>
          <a:solidFill>
            <a:srgbClr val="62A8BB"/>
          </a:solidFill>
        </p:spPr>
      </p:sp>
      <p:sp>
        <p:nvSpPr>
          <p:cNvPr id="4" name="Object 3"/>
          <p:cNvSpPr/>
          <p:nvPr/>
        </p:nvSpPr>
        <p:spPr>
          <a:xfrm>
            <a:off x="418234" y="262196"/>
            <a:ext cx="7747992" cy="833273"/>
          </a:xfrm>
          <a:prstGeom prst="rect">
            <a:avLst/>
          </a:prstGeom>
          <a:noFill/>
        </p:spPr>
        <p:txBody>
          <a:bodyPr wrap="square" lIns="0" tIns="0" rIns="0" bIns="0" rtlCol="0" anchor="ctr"/>
          <a:lstStyle/>
          <a:p>
            <a:r>
              <a:rPr lang="en-IN" sz="3200" b="0" dirty="0">
                <a:solidFill>
                  <a:srgbClr val="CE9178"/>
                </a:solidFill>
                <a:effectLst/>
                <a:latin typeface="Courier New" panose="02070309020205020404" pitchFamily="49" charset="0"/>
              </a:rPr>
              <a:t>Histogram Distribution of Close/Last</a:t>
            </a:r>
            <a:endParaRPr lang="en-IN" sz="3200" b="0" dirty="0">
              <a:solidFill>
                <a:srgbClr val="D4D4D4"/>
              </a:solidFill>
              <a:effectLst/>
              <a:latin typeface="Courier New" panose="02070309020205020404" pitchFamily="49" charset="0"/>
            </a:endParaRPr>
          </a:p>
        </p:txBody>
      </p:sp>
      <p:pic>
        <p:nvPicPr>
          <p:cNvPr id="8194" name="Picture 2">
            <a:extLst>
              <a:ext uri="{FF2B5EF4-FFF2-40B4-BE49-F238E27FC236}">
                <a16:creationId xmlns:a16="http://schemas.microsoft.com/office/drawing/2014/main" id="{9C674CB5-0595-1CD4-CDB0-B0E2C0E3A0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528" y="1095469"/>
            <a:ext cx="9569514" cy="5291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63926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4777142" y="1095469"/>
            <a:ext cx="6935680" cy="5284685"/>
          </a:xfrm>
          <a:prstGeom prst="rect">
            <a:avLst/>
          </a:prstGeom>
          <a:solidFill>
            <a:srgbClr val="62A8BB"/>
          </a:solidFill>
        </p:spPr>
      </p:sp>
      <p:sp>
        <p:nvSpPr>
          <p:cNvPr id="4" name="Object 3"/>
          <p:cNvSpPr/>
          <p:nvPr/>
        </p:nvSpPr>
        <p:spPr>
          <a:xfrm>
            <a:off x="418234" y="262196"/>
            <a:ext cx="10808063" cy="833273"/>
          </a:xfrm>
          <a:prstGeom prst="rect">
            <a:avLst/>
          </a:prstGeom>
          <a:noFill/>
        </p:spPr>
        <p:txBody>
          <a:bodyPr wrap="square" lIns="0" tIns="0" rIns="0" bIns="0" rtlCol="0" anchor="ctr"/>
          <a:lstStyle/>
          <a:p>
            <a:r>
              <a:rPr lang="en-IN" sz="3200" b="0" dirty="0">
                <a:solidFill>
                  <a:srgbClr val="CE9178"/>
                </a:solidFill>
                <a:effectLst/>
                <a:latin typeface="Courier New" panose="02070309020205020404" pitchFamily="49" charset="0"/>
              </a:rPr>
              <a:t>Heatmap of Corelation Matrix</a:t>
            </a:r>
            <a:endParaRPr lang="en-IN" sz="3200" b="0" dirty="0">
              <a:solidFill>
                <a:srgbClr val="D4D4D4"/>
              </a:solidFill>
              <a:effectLst/>
              <a:latin typeface="Courier New" panose="02070309020205020404" pitchFamily="49" charset="0"/>
            </a:endParaRPr>
          </a:p>
        </p:txBody>
      </p:sp>
      <p:pic>
        <p:nvPicPr>
          <p:cNvPr id="1026" name="Picture 2">
            <a:extLst>
              <a:ext uri="{FF2B5EF4-FFF2-40B4-BE49-F238E27FC236}">
                <a16:creationId xmlns:a16="http://schemas.microsoft.com/office/drawing/2014/main" id="{D059FF7B-C6BC-E380-101A-1A0F055B23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7142" y="1095469"/>
            <a:ext cx="6935678" cy="528468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2FC8783-8B5E-9887-D49F-6B83450EF9C4}"/>
              </a:ext>
            </a:extLst>
          </p:cNvPr>
          <p:cNvSpPr txBox="1"/>
          <p:nvPr/>
        </p:nvSpPr>
        <p:spPr>
          <a:xfrm>
            <a:off x="339736" y="1272521"/>
            <a:ext cx="4515905" cy="1421928"/>
          </a:xfrm>
          <a:prstGeom prst="rect">
            <a:avLst/>
          </a:prstGeom>
          <a:noFill/>
        </p:spPr>
        <p:txBody>
          <a:bodyPr wrap="square" rtlCol="0">
            <a:spAutoFit/>
          </a:bodyPr>
          <a:lstStyle/>
          <a:p>
            <a:r>
              <a:rPr lang="en-US" sz="1440" dirty="0">
                <a:latin typeface="Montserrat" panose="00000500000000000000" pitchFamily="2" charset="0"/>
              </a:rPr>
              <a:t>We transformed daily oil price data into a Year-Month matrix of average closing prices. </a:t>
            </a:r>
          </a:p>
          <a:p>
            <a:r>
              <a:rPr lang="en-US" sz="1440" dirty="0">
                <a:latin typeface="Montserrat" panose="00000500000000000000" pitchFamily="2" charset="0"/>
              </a:rPr>
              <a:t>This highlights monthly and seasonal patterns, </a:t>
            </a:r>
          </a:p>
          <a:p>
            <a:r>
              <a:rPr lang="en-US" sz="1440" dirty="0">
                <a:latin typeface="Montserrat" panose="00000500000000000000" pitchFamily="2" charset="0"/>
              </a:rPr>
              <a:t>making it easier to detect long-term trends and prepare the dataset for forecasting models </a:t>
            </a:r>
          </a:p>
          <a:p>
            <a:r>
              <a:rPr lang="en-US" sz="1440" dirty="0">
                <a:latin typeface="Montserrat" panose="00000500000000000000" pitchFamily="2" charset="0"/>
              </a:rPr>
              <a:t>such as ARIMA and Exponential Smoothing</a:t>
            </a:r>
            <a:endParaRPr lang="en-IN" sz="1440" dirty="0">
              <a:latin typeface="Montserrat" panose="00000500000000000000" pitchFamily="2" charset="0"/>
            </a:endParaRPr>
          </a:p>
        </p:txBody>
      </p:sp>
    </p:spTree>
    <p:extLst>
      <p:ext uri="{BB962C8B-B14F-4D97-AF65-F5344CB8AC3E}">
        <p14:creationId xmlns:p14="http://schemas.microsoft.com/office/powerpoint/2010/main" val="9929734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418234" y="1828833"/>
            <a:ext cx="11294588" cy="4551321"/>
          </a:xfrm>
          <a:prstGeom prst="rect">
            <a:avLst/>
          </a:prstGeom>
          <a:solidFill>
            <a:srgbClr val="62A8BB"/>
          </a:solidFill>
        </p:spPr>
      </p:sp>
      <p:sp>
        <p:nvSpPr>
          <p:cNvPr id="4" name="Object 3"/>
          <p:cNvSpPr/>
          <p:nvPr/>
        </p:nvSpPr>
        <p:spPr>
          <a:xfrm>
            <a:off x="418234" y="262196"/>
            <a:ext cx="10808063" cy="833273"/>
          </a:xfrm>
          <a:prstGeom prst="rect">
            <a:avLst/>
          </a:prstGeom>
          <a:noFill/>
        </p:spPr>
        <p:txBody>
          <a:bodyPr wrap="square" lIns="0" tIns="0" rIns="0" bIns="0" rtlCol="0" anchor="ctr"/>
          <a:lstStyle/>
          <a:p>
            <a:r>
              <a:rPr lang="en-US" sz="3200" b="0" dirty="0">
                <a:solidFill>
                  <a:srgbClr val="CE9178"/>
                </a:solidFill>
                <a:effectLst/>
                <a:latin typeface="Courier New" panose="02070309020205020404" pitchFamily="49" charset="0"/>
              </a:rPr>
              <a:t>Monthly Average Crude Oil Prices (All Years)</a:t>
            </a:r>
            <a:endParaRPr lang="en-US" sz="3200" b="0" dirty="0">
              <a:solidFill>
                <a:srgbClr val="D4D4D4"/>
              </a:solidFill>
              <a:effectLst/>
              <a:latin typeface="Courier New" panose="02070309020205020404" pitchFamily="49" charset="0"/>
            </a:endParaRPr>
          </a:p>
        </p:txBody>
      </p:sp>
      <p:pic>
        <p:nvPicPr>
          <p:cNvPr id="6" name="Picture 5" descr="A graph with a line&#10;&#10;AI-generated content may be incorrect.">
            <a:extLst>
              <a:ext uri="{FF2B5EF4-FFF2-40B4-BE49-F238E27FC236}">
                <a16:creationId xmlns:a16="http://schemas.microsoft.com/office/drawing/2014/main" id="{B16ABBC3-BC1A-DE1A-A650-0C17899C246F}"/>
              </a:ext>
            </a:extLst>
          </p:cNvPr>
          <p:cNvPicPr>
            <a:picLocks noChangeAspect="1"/>
          </p:cNvPicPr>
          <p:nvPr/>
        </p:nvPicPr>
        <p:blipFill>
          <a:blip r:embed="rId3"/>
          <a:stretch>
            <a:fillRect/>
          </a:stretch>
        </p:blipFill>
        <p:spPr>
          <a:xfrm>
            <a:off x="161945" y="1828833"/>
            <a:ext cx="11868110" cy="4551321"/>
          </a:xfrm>
          <a:prstGeom prst="rect">
            <a:avLst/>
          </a:prstGeom>
        </p:spPr>
      </p:pic>
    </p:spTree>
    <p:extLst>
      <p:ext uri="{BB962C8B-B14F-4D97-AF65-F5344CB8AC3E}">
        <p14:creationId xmlns:p14="http://schemas.microsoft.com/office/powerpoint/2010/main" val="3442415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418234" y="1570029"/>
            <a:ext cx="9323295" cy="4810125"/>
          </a:xfrm>
          <a:prstGeom prst="rect">
            <a:avLst/>
          </a:prstGeom>
          <a:solidFill>
            <a:srgbClr val="62A8BB"/>
          </a:solidFill>
        </p:spPr>
      </p:sp>
      <p:sp>
        <p:nvSpPr>
          <p:cNvPr id="4" name="Object 3"/>
          <p:cNvSpPr/>
          <p:nvPr/>
        </p:nvSpPr>
        <p:spPr>
          <a:xfrm>
            <a:off x="418234" y="262196"/>
            <a:ext cx="10808063" cy="833273"/>
          </a:xfrm>
          <a:prstGeom prst="rect">
            <a:avLst/>
          </a:prstGeom>
          <a:noFill/>
        </p:spPr>
        <p:txBody>
          <a:bodyPr wrap="square" lIns="0" tIns="0" rIns="0" bIns="0" rtlCol="0" anchor="ctr"/>
          <a:lstStyle/>
          <a:p>
            <a:r>
              <a:rPr lang="en-US" sz="3200" b="0" dirty="0">
                <a:solidFill>
                  <a:srgbClr val="82B76C"/>
                </a:solidFill>
                <a:effectLst/>
                <a:latin typeface="Courier New" panose="02070309020205020404" pitchFamily="49" charset="0"/>
              </a:rPr>
              <a:t>Rolling mean/median (7-day, 30-day)</a:t>
            </a:r>
            <a:endParaRPr lang="en-US" sz="3200" b="0" dirty="0">
              <a:solidFill>
                <a:srgbClr val="D4D4D4"/>
              </a:solidFill>
              <a:effectLst/>
              <a:latin typeface="Courier New" panose="02070309020205020404" pitchFamily="49" charset="0"/>
            </a:endParaRPr>
          </a:p>
        </p:txBody>
      </p:sp>
      <p:pic>
        <p:nvPicPr>
          <p:cNvPr id="2050" name="Picture 2">
            <a:extLst>
              <a:ext uri="{FF2B5EF4-FFF2-40B4-BE49-F238E27FC236}">
                <a16:creationId xmlns:a16="http://schemas.microsoft.com/office/drawing/2014/main" id="{35F8AAA1-B099-4036-E9C6-A8721C00B3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234" y="1570029"/>
            <a:ext cx="9391650" cy="4810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86735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3845177" y="1785679"/>
            <a:ext cx="7915275" cy="4295775"/>
          </a:xfrm>
          <a:prstGeom prst="rect">
            <a:avLst/>
          </a:prstGeom>
          <a:solidFill>
            <a:srgbClr val="62A8BB"/>
          </a:solidFill>
        </p:spPr>
      </p:sp>
      <p:sp>
        <p:nvSpPr>
          <p:cNvPr id="4" name="Object 3"/>
          <p:cNvSpPr/>
          <p:nvPr/>
        </p:nvSpPr>
        <p:spPr>
          <a:xfrm>
            <a:off x="418234" y="262196"/>
            <a:ext cx="10808063" cy="833273"/>
          </a:xfrm>
          <a:prstGeom prst="rect">
            <a:avLst/>
          </a:prstGeom>
          <a:noFill/>
        </p:spPr>
        <p:txBody>
          <a:bodyPr wrap="square" lIns="0" tIns="0" rIns="0" bIns="0" rtlCol="0" anchor="ctr"/>
          <a:lstStyle/>
          <a:p>
            <a:r>
              <a:rPr lang="en-US" sz="3200" b="0" dirty="0">
                <a:solidFill>
                  <a:srgbClr val="82B76C"/>
                </a:solidFill>
                <a:effectLst/>
                <a:latin typeface="Courier New" panose="02070309020205020404" pitchFamily="49" charset="0"/>
              </a:rPr>
              <a:t>Daily Percentage Changes in Close / Last</a:t>
            </a:r>
            <a:endParaRPr lang="en-US" sz="3200" b="0" dirty="0">
              <a:solidFill>
                <a:srgbClr val="D4D4D4"/>
              </a:solidFill>
              <a:effectLst/>
              <a:latin typeface="Courier New" panose="02070309020205020404" pitchFamily="49" charset="0"/>
            </a:endParaRPr>
          </a:p>
        </p:txBody>
      </p:sp>
      <p:pic>
        <p:nvPicPr>
          <p:cNvPr id="3076" name="Picture 4">
            <a:extLst>
              <a:ext uri="{FF2B5EF4-FFF2-40B4-BE49-F238E27FC236}">
                <a16:creationId xmlns:a16="http://schemas.microsoft.com/office/drawing/2014/main" id="{00CECF56-13F3-6670-D431-F1EF0C468F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5177" y="1785679"/>
            <a:ext cx="7915275" cy="429577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59A77E79-017A-FE8A-7ABA-5D94D790679F}"/>
              </a:ext>
            </a:extLst>
          </p:cNvPr>
          <p:cNvPicPr>
            <a:picLocks noChangeAspect="1"/>
          </p:cNvPicPr>
          <p:nvPr/>
        </p:nvPicPr>
        <p:blipFill>
          <a:blip r:embed="rId4"/>
          <a:stretch>
            <a:fillRect/>
          </a:stretch>
        </p:blipFill>
        <p:spPr>
          <a:xfrm>
            <a:off x="733418" y="2804696"/>
            <a:ext cx="2124371" cy="2257740"/>
          </a:xfrm>
          <a:prstGeom prst="rect">
            <a:avLst/>
          </a:prstGeom>
        </p:spPr>
      </p:pic>
      <p:pic>
        <p:nvPicPr>
          <p:cNvPr id="5" name="Picture 4">
            <a:extLst>
              <a:ext uri="{FF2B5EF4-FFF2-40B4-BE49-F238E27FC236}">
                <a16:creationId xmlns:a16="http://schemas.microsoft.com/office/drawing/2014/main" id="{5B850BD5-2C2B-81BE-A88E-16A6263BFB12}"/>
              </a:ext>
            </a:extLst>
          </p:cNvPr>
          <p:cNvPicPr>
            <a:picLocks noChangeAspect="1"/>
          </p:cNvPicPr>
          <p:nvPr/>
        </p:nvPicPr>
        <p:blipFill>
          <a:blip r:embed="rId5"/>
          <a:stretch>
            <a:fillRect/>
          </a:stretch>
        </p:blipFill>
        <p:spPr>
          <a:xfrm>
            <a:off x="733418" y="2804696"/>
            <a:ext cx="2124371" cy="2257740"/>
          </a:xfrm>
          <a:prstGeom prst="rect">
            <a:avLst/>
          </a:prstGeom>
        </p:spPr>
      </p:pic>
    </p:spTree>
    <p:extLst>
      <p:ext uri="{BB962C8B-B14F-4D97-AF65-F5344CB8AC3E}">
        <p14:creationId xmlns:p14="http://schemas.microsoft.com/office/powerpoint/2010/main" val="15974669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232844" y="1095469"/>
            <a:ext cx="11735837" cy="5500335"/>
          </a:xfrm>
          <a:prstGeom prst="rect">
            <a:avLst/>
          </a:prstGeom>
          <a:solidFill>
            <a:srgbClr val="62A8BB"/>
          </a:solidFill>
        </p:spPr>
      </p:sp>
      <p:sp>
        <p:nvSpPr>
          <p:cNvPr id="4" name="Object 3"/>
          <p:cNvSpPr/>
          <p:nvPr/>
        </p:nvSpPr>
        <p:spPr>
          <a:xfrm>
            <a:off x="418234" y="262196"/>
            <a:ext cx="10808063" cy="833273"/>
          </a:xfrm>
          <a:prstGeom prst="rect">
            <a:avLst/>
          </a:prstGeom>
          <a:noFill/>
        </p:spPr>
        <p:txBody>
          <a:bodyPr wrap="square" lIns="0" tIns="0" rIns="0" bIns="0" rtlCol="0" anchor="ctr"/>
          <a:lstStyle/>
          <a:p>
            <a:r>
              <a:rPr lang="en-US" sz="3200" b="0" dirty="0">
                <a:solidFill>
                  <a:srgbClr val="CE9178"/>
                </a:solidFill>
                <a:effectLst/>
                <a:latin typeface="Courier New" panose="02070309020205020404" pitchFamily="49" charset="0"/>
              </a:rPr>
              <a:t>Seasonal Decomposition of Crude Oil Volume</a:t>
            </a:r>
            <a:endParaRPr lang="en-US" sz="3200" b="0" dirty="0">
              <a:solidFill>
                <a:srgbClr val="D4D4D4"/>
              </a:solidFill>
              <a:effectLst/>
              <a:latin typeface="Courier New" panose="02070309020205020404" pitchFamily="49" charset="0"/>
            </a:endParaRPr>
          </a:p>
        </p:txBody>
      </p:sp>
      <p:pic>
        <p:nvPicPr>
          <p:cNvPr id="4098" name="Picture 2">
            <a:extLst>
              <a:ext uri="{FF2B5EF4-FFF2-40B4-BE49-F238E27FC236}">
                <a16:creationId xmlns:a16="http://schemas.microsoft.com/office/drawing/2014/main" id="{8E108353-C7AD-9B97-C1EE-7C34B5ED5A9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564"/>
          <a:stretch/>
        </p:blipFill>
        <p:spPr bwMode="auto">
          <a:xfrm>
            <a:off x="232844" y="1095469"/>
            <a:ext cx="11735837" cy="55003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1817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6">
    <p:bg>
      <p:bgPr>
        <a:solidFill>
          <a:srgbClr val="000000"/>
        </a:solidFill>
        <a:effectLst/>
      </p:bgPr>
    </p:bg>
    <p:spTree>
      <p:nvGrpSpPr>
        <p:cNvPr id="1" name=""/>
        <p:cNvGrpSpPr/>
        <p:nvPr/>
      </p:nvGrpSpPr>
      <p:grpSpPr>
        <a:xfrm>
          <a:off x="0" y="0"/>
          <a:ext cx="0" cy="0"/>
          <a:chOff x="0" y="0"/>
          <a:chExt cx="0" cy="0"/>
        </a:xfrm>
      </p:grpSpPr>
      <p:sp>
        <p:nvSpPr>
          <p:cNvPr id="2" name="Object 1"/>
          <p:cNvSpPr/>
          <p:nvPr/>
        </p:nvSpPr>
        <p:spPr>
          <a:xfrm>
            <a:off x="0" y="362901"/>
            <a:ext cx="12188952" cy="509906"/>
          </a:xfrm>
          <a:prstGeom prst="rect">
            <a:avLst/>
          </a:prstGeom>
          <a:noFill/>
        </p:spPr>
        <p:txBody>
          <a:bodyPr wrap="square" lIns="0" tIns="0" rIns="0" bIns="0" rtlCol="0" anchor="t"/>
          <a:lstStyle/>
          <a:p>
            <a:pPr algn="ctr">
              <a:lnSpc>
                <a:spcPts val="4016"/>
              </a:lnSpc>
              <a:buNone/>
            </a:pPr>
            <a:r>
              <a:rPr lang="en-US" sz="3188" dirty="0">
                <a:solidFill>
                  <a:srgbClr val="FFFFFF"/>
                </a:solidFill>
                <a:latin typeface="Montserrat" pitchFamily="34" charset="0"/>
                <a:ea typeface="Montserrat" pitchFamily="34" charset="-122"/>
                <a:cs typeface="Montserrat" pitchFamily="34" charset="-120"/>
              </a:rPr>
              <a:t>Data Preprocessing</a:t>
            </a:r>
            <a:endParaRPr lang="en-US" dirty="0"/>
          </a:p>
        </p:txBody>
      </p:sp>
      <p:pic>
        <p:nvPicPr>
          <p:cNvPr id="3" name="Object 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6608" y="1799775"/>
            <a:ext cx="2980580" cy="1209373"/>
          </a:xfrm>
          <a:prstGeom prst="rect">
            <a:avLst/>
          </a:prstGeom>
        </p:spPr>
      </p:pic>
      <p:sp>
        <p:nvSpPr>
          <p:cNvPr id="4" name="Object 3"/>
          <p:cNvSpPr/>
          <p:nvPr/>
        </p:nvSpPr>
        <p:spPr>
          <a:xfrm>
            <a:off x="552312" y="2281858"/>
            <a:ext cx="2513971" cy="230328"/>
          </a:xfrm>
          <a:prstGeom prst="rect">
            <a:avLst/>
          </a:prstGeom>
          <a:noFill/>
        </p:spPr>
        <p:txBody>
          <a:bodyPr wrap="square" lIns="0" tIns="0" rIns="0" bIns="0" rtlCol="0" anchor="t"/>
          <a:lstStyle/>
          <a:p>
            <a:pPr algn="ctr">
              <a:lnSpc>
                <a:spcPts val="1814"/>
              </a:lnSpc>
              <a:buNone/>
            </a:pPr>
            <a:r>
              <a:rPr lang="en-US" sz="1440" dirty="0">
                <a:solidFill>
                  <a:srgbClr val="FFFFFF"/>
                </a:solidFill>
                <a:latin typeface="Montserrat" pitchFamily="34" charset="0"/>
                <a:ea typeface="Montserrat" pitchFamily="34" charset="-122"/>
                <a:cs typeface="Montserrat" pitchFamily="34" charset="-120"/>
              </a:rPr>
              <a:t>Handling Missing Values</a:t>
            </a:r>
            <a:endParaRPr lang="en-US" dirty="0"/>
          </a:p>
        </p:txBody>
      </p:sp>
      <p:sp>
        <p:nvSpPr>
          <p:cNvPr id="5" name="Object 4"/>
          <p:cNvSpPr/>
          <p:nvPr/>
        </p:nvSpPr>
        <p:spPr>
          <a:xfrm>
            <a:off x="761810" y="3136810"/>
            <a:ext cx="2513971" cy="1705739"/>
          </a:xfrm>
          <a:prstGeom prst="rect">
            <a:avLst/>
          </a:prstGeom>
          <a:noFill/>
        </p:spPr>
        <p:txBody>
          <a:bodyPr wrap="square" lIns="0" tIns="0" rIns="0" bIns="0" rtlCol="0" anchor="t"/>
          <a:lstStyle/>
          <a:p>
            <a:pPr algn="l">
              <a:lnSpc>
                <a:spcPts val="1680"/>
              </a:lnSpc>
              <a:buNone/>
            </a:pPr>
            <a:r>
              <a:rPr lang="en-US" sz="1200" dirty="0">
                <a:solidFill>
                  <a:srgbClr val="FFFFFF">
                    <a:alpha val="90000"/>
                  </a:srgbClr>
                </a:solidFill>
                <a:latin typeface="Montserrat" pitchFamily="34" charset="0"/>
                <a:ea typeface="Montserrat" pitchFamily="34" charset="-122"/>
                <a:cs typeface="Montserrat" pitchFamily="34" charset="-120"/>
              </a:rPr>
              <a:t>The dataset initially had 31 missing values in the 'Volume' column. These missing values were interpolated using the 'linear' method, resulting in a complete dataset with no missing values.</a:t>
            </a:r>
            <a:endParaRPr lang="en-US" dirty="0"/>
          </a:p>
        </p:txBody>
      </p:sp>
      <p:pic>
        <p:nvPicPr>
          <p:cNvPr id="6" name="Object 5"/>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28164" y="1799775"/>
            <a:ext cx="2980580" cy="1209373"/>
          </a:xfrm>
          <a:prstGeom prst="rect">
            <a:avLst/>
          </a:prstGeom>
        </p:spPr>
      </p:pic>
      <p:sp>
        <p:nvSpPr>
          <p:cNvPr id="7" name="Object 6"/>
          <p:cNvSpPr/>
          <p:nvPr/>
        </p:nvSpPr>
        <p:spPr>
          <a:xfrm>
            <a:off x="3613834" y="2167586"/>
            <a:ext cx="2199725" cy="460657"/>
          </a:xfrm>
          <a:prstGeom prst="rect">
            <a:avLst/>
          </a:prstGeom>
          <a:noFill/>
        </p:spPr>
        <p:txBody>
          <a:bodyPr wrap="square" lIns="0" tIns="0" rIns="0" bIns="0" rtlCol="0" anchor="t"/>
          <a:lstStyle/>
          <a:p>
            <a:pPr algn="ctr">
              <a:lnSpc>
                <a:spcPts val="1814"/>
              </a:lnSpc>
              <a:buNone/>
            </a:pPr>
            <a:r>
              <a:rPr lang="en-US" sz="1440" dirty="0">
                <a:solidFill>
                  <a:srgbClr val="FFFFFF"/>
                </a:solidFill>
                <a:latin typeface="Montserrat" pitchFamily="34" charset="0"/>
                <a:ea typeface="Montserrat" pitchFamily="34" charset="-122"/>
                <a:cs typeface="Montserrat" pitchFamily="34" charset="-120"/>
              </a:rPr>
              <a:t>Date Column Conversion</a:t>
            </a:r>
            <a:endParaRPr lang="en-US" dirty="0"/>
          </a:p>
        </p:txBody>
      </p:sp>
      <p:sp>
        <p:nvSpPr>
          <p:cNvPr id="8" name="Object 7"/>
          <p:cNvSpPr/>
          <p:nvPr/>
        </p:nvSpPr>
        <p:spPr>
          <a:xfrm>
            <a:off x="3523369" y="3136810"/>
            <a:ext cx="2513971" cy="1066087"/>
          </a:xfrm>
          <a:prstGeom prst="rect">
            <a:avLst/>
          </a:prstGeom>
          <a:noFill/>
        </p:spPr>
        <p:txBody>
          <a:bodyPr wrap="square" lIns="0" tIns="0" rIns="0" bIns="0" rtlCol="0" anchor="t"/>
          <a:lstStyle/>
          <a:p>
            <a:pPr algn="l">
              <a:lnSpc>
                <a:spcPts val="1680"/>
              </a:lnSpc>
              <a:buNone/>
            </a:pPr>
            <a:r>
              <a:rPr lang="en-US" sz="1200" dirty="0">
                <a:solidFill>
                  <a:srgbClr val="FFFFFF">
                    <a:alpha val="90000"/>
                  </a:srgbClr>
                </a:solidFill>
                <a:latin typeface="Montserrat" pitchFamily="34" charset="0"/>
                <a:ea typeface="Montserrat" pitchFamily="34" charset="-122"/>
                <a:cs typeface="Montserrat" pitchFamily="34" charset="-120"/>
              </a:rPr>
              <a:t>The 'Date' column was originally in string format and was converted to datetime format using `pd.to_datetime()` function.</a:t>
            </a:r>
            <a:endParaRPr lang="en-US" dirty="0"/>
          </a:p>
        </p:txBody>
      </p:sp>
      <p:pic>
        <p:nvPicPr>
          <p:cNvPr id="9" name="Object 8"/>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89729" y="1799775"/>
            <a:ext cx="2971057" cy="1209373"/>
          </a:xfrm>
          <a:prstGeom prst="rect">
            <a:avLst/>
          </a:prstGeom>
        </p:spPr>
      </p:pic>
      <p:sp>
        <p:nvSpPr>
          <p:cNvPr id="10" name="Object 9"/>
          <p:cNvSpPr/>
          <p:nvPr/>
        </p:nvSpPr>
        <p:spPr>
          <a:xfrm>
            <a:off x="6375393" y="2281858"/>
            <a:ext cx="2199725" cy="230328"/>
          </a:xfrm>
          <a:prstGeom prst="rect">
            <a:avLst/>
          </a:prstGeom>
          <a:noFill/>
        </p:spPr>
        <p:txBody>
          <a:bodyPr wrap="square" lIns="0" tIns="0" rIns="0" bIns="0" rtlCol="0" anchor="t"/>
          <a:lstStyle/>
          <a:p>
            <a:pPr algn="ctr">
              <a:lnSpc>
                <a:spcPts val="1814"/>
              </a:lnSpc>
              <a:buNone/>
            </a:pPr>
            <a:r>
              <a:rPr lang="en-US" sz="1440" dirty="0">
                <a:solidFill>
                  <a:srgbClr val="FFFFFF"/>
                </a:solidFill>
                <a:latin typeface="Montserrat" pitchFamily="34" charset="0"/>
                <a:ea typeface="Montserrat" pitchFamily="34" charset="-122"/>
                <a:cs typeface="Montserrat" pitchFamily="34" charset="-120"/>
              </a:rPr>
              <a:t>Train-Test Split</a:t>
            </a:r>
            <a:endParaRPr lang="en-US" dirty="0"/>
          </a:p>
        </p:txBody>
      </p:sp>
      <p:sp>
        <p:nvSpPr>
          <p:cNvPr id="11" name="Object 10"/>
          <p:cNvSpPr/>
          <p:nvPr/>
        </p:nvSpPr>
        <p:spPr>
          <a:xfrm>
            <a:off x="6284928" y="3136810"/>
            <a:ext cx="2513971" cy="1705739"/>
          </a:xfrm>
          <a:prstGeom prst="rect">
            <a:avLst/>
          </a:prstGeom>
          <a:noFill/>
        </p:spPr>
        <p:txBody>
          <a:bodyPr wrap="square" lIns="0" tIns="0" rIns="0" bIns="0" rtlCol="0" anchor="t"/>
          <a:lstStyle/>
          <a:p>
            <a:pPr algn="l">
              <a:lnSpc>
                <a:spcPts val="1680"/>
              </a:lnSpc>
              <a:buNone/>
            </a:pPr>
            <a:r>
              <a:rPr lang="en-US" sz="1200" dirty="0">
                <a:solidFill>
                  <a:srgbClr val="FFFFFF">
                    <a:alpha val="90000"/>
                  </a:srgbClr>
                </a:solidFill>
                <a:latin typeface="Montserrat" pitchFamily="34" charset="0"/>
                <a:ea typeface="Montserrat" pitchFamily="34" charset="-122"/>
                <a:cs typeface="Montserrat" pitchFamily="34" charset="-120"/>
              </a:rPr>
              <a:t>The dataset was sorted by the 'Date' column and split into training and testing sets, with 80% of the data used for training and the remaining 20% for testing. The training set had 2,038 rows, and the testing set had 510 rows.</a:t>
            </a:r>
            <a:endParaRPr lang="en-US" dirty="0"/>
          </a:p>
        </p:txBody>
      </p:sp>
      <p:pic>
        <p:nvPicPr>
          <p:cNvPr id="12" name="Object 11"/>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751285" y="1799775"/>
            <a:ext cx="2980580" cy="1209373"/>
          </a:xfrm>
          <a:prstGeom prst="rect">
            <a:avLst/>
          </a:prstGeom>
        </p:spPr>
      </p:pic>
      <p:sp>
        <p:nvSpPr>
          <p:cNvPr id="13" name="Object 12"/>
          <p:cNvSpPr/>
          <p:nvPr/>
        </p:nvSpPr>
        <p:spPr>
          <a:xfrm>
            <a:off x="9136953" y="2167586"/>
            <a:ext cx="2199725" cy="460657"/>
          </a:xfrm>
          <a:prstGeom prst="rect">
            <a:avLst/>
          </a:prstGeom>
          <a:noFill/>
        </p:spPr>
        <p:txBody>
          <a:bodyPr wrap="square" lIns="0" tIns="0" rIns="0" bIns="0" rtlCol="0" anchor="t"/>
          <a:lstStyle/>
          <a:p>
            <a:pPr algn="ctr">
              <a:lnSpc>
                <a:spcPts val="1814"/>
              </a:lnSpc>
              <a:buNone/>
            </a:pPr>
            <a:r>
              <a:rPr lang="en-US" sz="1440" dirty="0">
                <a:solidFill>
                  <a:srgbClr val="FFFFFF"/>
                </a:solidFill>
                <a:latin typeface="Montserrat" pitchFamily="34" charset="0"/>
                <a:ea typeface="Montserrat" pitchFamily="34" charset="-122"/>
                <a:cs typeface="Montserrat" pitchFamily="34" charset="-120"/>
              </a:rPr>
              <a:t>Outlier Detection and Handling</a:t>
            </a:r>
            <a:endParaRPr lang="en-US" dirty="0"/>
          </a:p>
        </p:txBody>
      </p:sp>
      <p:sp>
        <p:nvSpPr>
          <p:cNvPr id="14" name="Object 13"/>
          <p:cNvSpPr/>
          <p:nvPr/>
        </p:nvSpPr>
        <p:spPr>
          <a:xfrm>
            <a:off x="9046488" y="3136810"/>
            <a:ext cx="2513971" cy="3198261"/>
          </a:xfrm>
          <a:prstGeom prst="rect">
            <a:avLst/>
          </a:prstGeom>
          <a:noFill/>
        </p:spPr>
        <p:txBody>
          <a:bodyPr wrap="square" lIns="0" tIns="0" rIns="0" bIns="0" rtlCol="0" anchor="t"/>
          <a:lstStyle/>
          <a:p>
            <a:pPr algn="l">
              <a:lnSpc>
                <a:spcPts val="1680"/>
              </a:lnSpc>
              <a:buNone/>
            </a:pPr>
            <a:r>
              <a:rPr lang="en-US" sz="1200" dirty="0">
                <a:solidFill>
                  <a:srgbClr val="FFFFFF">
                    <a:alpha val="90000"/>
                  </a:srgbClr>
                </a:solidFill>
                <a:latin typeface="Montserrat" pitchFamily="34" charset="0"/>
                <a:ea typeface="Montserrat" pitchFamily="34" charset="-122"/>
                <a:cs typeface="Montserrat" pitchFamily="34" charset="-120"/>
              </a:rPr>
              <a:t>The code checked for outliers in the numeric columns (Close/Last, Volume, Open, High, and Low) using the interquartile range (IQR) method. Any values below the lower bound (Q1 - 1.5 * IQR) or above the upper bound (Q3 + 1.5 * IQR) were considered outliers. The outliers were replaced with the rolling median of the respective columns using a window size of 7 days and a threshold factor of 3.</a:t>
            </a:r>
            <a:endParaRPr lang="en-US"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0" y="362901"/>
            <a:ext cx="12188952" cy="509906"/>
          </a:xfrm>
          <a:prstGeom prst="rect">
            <a:avLst/>
          </a:prstGeom>
          <a:noFill/>
        </p:spPr>
        <p:txBody>
          <a:bodyPr wrap="square" lIns="0" tIns="0" rIns="0" bIns="0" rtlCol="0" anchor="t"/>
          <a:lstStyle/>
          <a:p>
            <a:pPr algn="ctr">
              <a:lnSpc>
                <a:spcPts val="4016"/>
              </a:lnSpc>
              <a:buNone/>
            </a:pPr>
            <a:r>
              <a:rPr lang="en-US" sz="3188" dirty="0">
                <a:solidFill>
                  <a:srgbClr val="2A2921"/>
                </a:solidFill>
                <a:latin typeface="Montserrat" pitchFamily="34" charset="0"/>
                <a:ea typeface="Montserrat" pitchFamily="34" charset="-122"/>
                <a:cs typeface="Montserrat" pitchFamily="34" charset="-120"/>
              </a:rPr>
              <a:t>Model Selection</a:t>
            </a:r>
            <a:endParaRPr lang="en-US" dirty="0"/>
          </a:p>
        </p:txBody>
      </p:sp>
      <p:pic>
        <p:nvPicPr>
          <p:cNvPr id="3" name="Object 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66586" y="2336910"/>
            <a:ext cx="638015" cy="847513"/>
          </a:xfrm>
          <a:prstGeom prst="rect">
            <a:avLst/>
          </a:prstGeom>
        </p:spPr>
      </p:pic>
      <p:sp>
        <p:nvSpPr>
          <p:cNvPr id="4" name="Object 3"/>
          <p:cNvSpPr/>
          <p:nvPr/>
        </p:nvSpPr>
        <p:spPr>
          <a:xfrm>
            <a:off x="346623" y="3566935"/>
            <a:ext cx="3687158" cy="230328"/>
          </a:xfrm>
          <a:prstGeom prst="rect">
            <a:avLst/>
          </a:prstGeom>
          <a:noFill/>
        </p:spPr>
        <p:txBody>
          <a:bodyPr wrap="square" lIns="0" tIns="0" rIns="0" bIns="0" rtlCol="0" anchor="t"/>
          <a:lstStyle/>
          <a:p>
            <a:pPr algn="ctr">
              <a:lnSpc>
                <a:spcPts val="1814"/>
              </a:lnSpc>
              <a:buNone/>
            </a:pPr>
            <a:r>
              <a:rPr lang="en-US" sz="1440" dirty="0">
                <a:solidFill>
                  <a:srgbClr val="2A2921"/>
                </a:solidFill>
                <a:latin typeface="Montserrat" pitchFamily="34" charset="0"/>
                <a:ea typeface="Montserrat" pitchFamily="34" charset="-122"/>
                <a:cs typeface="Montserrat" pitchFamily="34" charset="-120"/>
              </a:rPr>
              <a:t>ARIMA (time-series based)</a:t>
            </a:r>
            <a:endParaRPr lang="en-US" dirty="0"/>
          </a:p>
        </p:txBody>
      </p:sp>
      <p:sp>
        <p:nvSpPr>
          <p:cNvPr id="5" name="Object 4"/>
          <p:cNvSpPr/>
          <p:nvPr/>
        </p:nvSpPr>
        <p:spPr>
          <a:xfrm>
            <a:off x="346623" y="3883116"/>
            <a:ext cx="3687158" cy="852870"/>
          </a:xfrm>
          <a:prstGeom prst="rect">
            <a:avLst/>
          </a:prstGeom>
          <a:noFill/>
        </p:spPr>
        <p:txBody>
          <a:bodyPr wrap="square" lIns="0" tIns="0" rIns="0" bIns="0" rtlCol="0" anchor="t"/>
          <a:lstStyle/>
          <a:p>
            <a:pPr algn="ctr">
              <a:lnSpc>
                <a:spcPts val="1680"/>
              </a:lnSpc>
              <a:spcBef>
                <a:spcPts val="663"/>
              </a:spcBef>
              <a:buNone/>
            </a:pPr>
            <a:r>
              <a:rPr lang="en-US" sz="1200" dirty="0">
                <a:solidFill>
                  <a:srgbClr val="5A5A4C"/>
                </a:solidFill>
                <a:latin typeface="Montserrat" pitchFamily="34" charset="0"/>
                <a:ea typeface="Montserrat" pitchFamily="34" charset="-122"/>
                <a:cs typeface="Montserrat" pitchFamily="34" charset="-120"/>
              </a:rPr>
              <a:t>ARIMA (Autoregressive Integrated Moving Average) model chosen for its ability to capture trend and seasonality in time-series data</a:t>
            </a:r>
            <a:endParaRPr lang="en-US" dirty="0"/>
          </a:p>
        </p:txBody>
      </p:sp>
      <p:pic>
        <p:nvPicPr>
          <p:cNvPr id="6" name="Object 5"/>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15063" y="2437340"/>
            <a:ext cx="752287" cy="638015"/>
          </a:xfrm>
          <a:prstGeom prst="rect">
            <a:avLst/>
          </a:prstGeom>
        </p:spPr>
      </p:pic>
      <p:sp>
        <p:nvSpPr>
          <p:cNvPr id="7" name="Object 6"/>
          <p:cNvSpPr/>
          <p:nvPr/>
        </p:nvSpPr>
        <p:spPr>
          <a:xfrm>
            <a:off x="4292797" y="3566935"/>
            <a:ext cx="3603359" cy="230328"/>
          </a:xfrm>
          <a:prstGeom prst="rect">
            <a:avLst/>
          </a:prstGeom>
          <a:noFill/>
        </p:spPr>
        <p:txBody>
          <a:bodyPr wrap="square" lIns="0" tIns="0" rIns="0" bIns="0" rtlCol="0" anchor="t"/>
          <a:lstStyle/>
          <a:p>
            <a:pPr algn="ctr">
              <a:lnSpc>
                <a:spcPts val="1814"/>
              </a:lnSpc>
              <a:buNone/>
            </a:pPr>
            <a:r>
              <a:rPr lang="en-US" sz="1440" dirty="0">
                <a:solidFill>
                  <a:srgbClr val="2A2921"/>
                </a:solidFill>
                <a:latin typeface="Montserrat" pitchFamily="34" charset="0"/>
                <a:ea typeface="Montserrat" pitchFamily="34" charset="-122"/>
                <a:cs typeface="Montserrat" pitchFamily="34" charset="-120"/>
              </a:rPr>
              <a:t>Exponential Smoothing</a:t>
            </a:r>
            <a:endParaRPr lang="en-US" dirty="0"/>
          </a:p>
        </p:txBody>
      </p:sp>
      <p:sp>
        <p:nvSpPr>
          <p:cNvPr id="8" name="Object 7"/>
          <p:cNvSpPr/>
          <p:nvPr/>
        </p:nvSpPr>
        <p:spPr>
          <a:xfrm>
            <a:off x="4292797" y="3883116"/>
            <a:ext cx="3603359" cy="639652"/>
          </a:xfrm>
          <a:prstGeom prst="rect">
            <a:avLst/>
          </a:prstGeom>
          <a:noFill/>
        </p:spPr>
        <p:txBody>
          <a:bodyPr wrap="square" lIns="0" tIns="0" rIns="0" bIns="0" rtlCol="0" anchor="t"/>
          <a:lstStyle/>
          <a:p>
            <a:pPr algn="ctr">
              <a:lnSpc>
                <a:spcPts val="1680"/>
              </a:lnSpc>
              <a:spcBef>
                <a:spcPts val="663"/>
              </a:spcBef>
              <a:buNone/>
            </a:pPr>
            <a:r>
              <a:rPr lang="en-US" sz="1200" dirty="0">
                <a:solidFill>
                  <a:srgbClr val="5A5A4C"/>
                </a:solidFill>
                <a:latin typeface="Montserrat" pitchFamily="34" charset="0"/>
                <a:ea typeface="Montserrat" pitchFamily="34" charset="-122"/>
                <a:cs typeface="Montserrat" pitchFamily="34" charset="-120"/>
              </a:rPr>
              <a:t>Exponential Smoothing model selected for its effectiveness in handling trend and seasonality in a simple and robust manner</a:t>
            </a:r>
            <a:endParaRPr lang="en-US" dirty="0"/>
          </a:p>
        </p:txBody>
      </p:sp>
      <p:pic>
        <p:nvPicPr>
          <p:cNvPr id="9" name="Object 8"/>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597016" y="2269952"/>
            <a:ext cx="818945" cy="942739"/>
          </a:xfrm>
          <a:prstGeom prst="rect">
            <a:avLst/>
          </a:prstGeom>
        </p:spPr>
      </p:pic>
      <p:sp>
        <p:nvSpPr>
          <p:cNvPr id="10" name="Object 9"/>
          <p:cNvSpPr/>
          <p:nvPr/>
        </p:nvSpPr>
        <p:spPr>
          <a:xfrm>
            <a:off x="8113271" y="3566935"/>
            <a:ext cx="3770957" cy="230328"/>
          </a:xfrm>
          <a:prstGeom prst="rect">
            <a:avLst/>
          </a:prstGeom>
          <a:noFill/>
        </p:spPr>
        <p:txBody>
          <a:bodyPr wrap="square" lIns="0" tIns="0" rIns="0" bIns="0" rtlCol="0" anchor="t"/>
          <a:lstStyle/>
          <a:p>
            <a:pPr algn="ctr">
              <a:lnSpc>
                <a:spcPts val="1814"/>
              </a:lnSpc>
              <a:buNone/>
            </a:pPr>
            <a:r>
              <a:rPr lang="en-US" sz="1440" dirty="0">
                <a:solidFill>
                  <a:srgbClr val="2A2921"/>
                </a:solidFill>
                <a:latin typeface="Montserrat" pitchFamily="34" charset="0"/>
              </a:rPr>
              <a:t>Prophet Model</a:t>
            </a:r>
            <a:endParaRPr lang="en-US" dirty="0"/>
          </a:p>
        </p:txBody>
      </p:sp>
      <p:sp>
        <p:nvSpPr>
          <p:cNvPr id="11" name="Object 10"/>
          <p:cNvSpPr/>
          <p:nvPr/>
        </p:nvSpPr>
        <p:spPr>
          <a:xfrm>
            <a:off x="8113271" y="3883116"/>
            <a:ext cx="3770957" cy="1104950"/>
          </a:xfrm>
          <a:prstGeom prst="rect">
            <a:avLst/>
          </a:prstGeom>
          <a:noFill/>
        </p:spPr>
        <p:txBody>
          <a:bodyPr wrap="square" lIns="0" tIns="0" rIns="0" bIns="0" rtlCol="0" anchor="t"/>
          <a:lstStyle/>
          <a:p>
            <a:pPr algn="ctr">
              <a:lnSpc>
                <a:spcPts val="1680"/>
              </a:lnSpc>
              <a:spcBef>
                <a:spcPts val="663"/>
              </a:spcBef>
              <a:buNone/>
            </a:pPr>
            <a:r>
              <a:rPr lang="en-US" sz="1200" dirty="0">
                <a:solidFill>
                  <a:srgbClr val="5A5A4C"/>
                </a:solidFill>
                <a:latin typeface="Montserrat" pitchFamily="34" charset="0"/>
                <a:ea typeface="Montserrat" pitchFamily="34" charset="-122"/>
                <a:cs typeface="Montserrat" pitchFamily="34" charset="-120"/>
              </a:rPr>
              <a:t>The Prophet model is an open-source, additive regression model developed by Meta for time series forecasting, particularly effective for business data with strong seasonal patterns and holiday effects.</a:t>
            </a:r>
            <a:endParaRPr lang="en-US" dirty="0"/>
          </a:p>
        </p:txBody>
      </p:sp>
      <p:sp>
        <p:nvSpPr>
          <p:cNvPr id="12" name="Object 11"/>
          <p:cNvSpPr/>
          <p:nvPr/>
        </p:nvSpPr>
        <p:spPr>
          <a:xfrm>
            <a:off x="0" y="5713571"/>
            <a:ext cx="12188952" cy="1142714"/>
          </a:xfrm>
          <a:prstGeom prst="rect">
            <a:avLst/>
          </a:prstGeom>
          <a:solidFill>
            <a:srgbClr val="F0B356"/>
          </a:solidFill>
        </p:spPr>
      </p:sp>
      <p:sp>
        <p:nvSpPr>
          <p:cNvPr id="13" name="Object 12"/>
          <p:cNvSpPr/>
          <p:nvPr/>
        </p:nvSpPr>
        <p:spPr>
          <a:xfrm>
            <a:off x="862273" y="5992405"/>
            <a:ext cx="10464406" cy="575821"/>
          </a:xfrm>
          <a:prstGeom prst="rect">
            <a:avLst/>
          </a:prstGeom>
          <a:noFill/>
        </p:spPr>
        <p:txBody>
          <a:bodyPr wrap="square" lIns="0" tIns="0" rIns="0" bIns="0" rtlCol="0" anchor="ctr"/>
          <a:lstStyle/>
          <a:p>
            <a:pPr algn="ctr">
              <a:lnSpc>
                <a:spcPts val="2268"/>
              </a:lnSpc>
              <a:buNone/>
            </a:pPr>
            <a:r>
              <a:rPr lang="en-US" sz="1800" dirty="0">
                <a:solidFill>
                  <a:srgbClr val="2A2921"/>
                </a:solidFill>
                <a:latin typeface="Montserrat" pitchFamily="34" charset="0"/>
                <a:ea typeface="Montserrat" pitchFamily="34" charset="-122"/>
                <a:cs typeface="Montserrat" pitchFamily="34" charset="-120"/>
              </a:rPr>
              <a:t>The three models were chosen for their complementary strengths in handling the key characteristics of the crude oil price data, including trend and seasonality.</a:t>
            </a:r>
            <a:endParaRPr lang="en-US"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8">
    <p:bg>
      <p:bgPr>
        <a:solidFill>
          <a:srgbClr val="F5F5F5"/>
        </a:solidFill>
        <a:effectLst/>
      </p:bgPr>
    </p:bg>
    <p:spTree>
      <p:nvGrpSpPr>
        <p:cNvPr id="1" name=""/>
        <p:cNvGrpSpPr/>
        <p:nvPr/>
      </p:nvGrpSpPr>
      <p:grpSpPr>
        <a:xfrm>
          <a:off x="0" y="0"/>
          <a:ext cx="0" cy="0"/>
          <a:chOff x="0" y="0"/>
          <a:chExt cx="0" cy="0"/>
        </a:xfrm>
      </p:grpSpPr>
      <p:sp>
        <p:nvSpPr>
          <p:cNvPr id="2" name="Object 1"/>
          <p:cNvSpPr/>
          <p:nvPr/>
        </p:nvSpPr>
        <p:spPr>
          <a:xfrm>
            <a:off x="476131" y="2326739"/>
            <a:ext cx="11239738" cy="4053415"/>
          </a:xfrm>
          <a:prstGeom prst="rect">
            <a:avLst/>
          </a:prstGeom>
          <a:solidFill>
            <a:srgbClr val="62A8BB"/>
          </a:solidFill>
        </p:spPr>
      </p:sp>
      <p:sp>
        <p:nvSpPr>
          <p:cNvPr id="4" name="Object 3"/>
          <p:cNvSpPr/>
          <p:nvPr/>
        </p:nvSpPr>
        <p:spPr>
          <a:xfrm>
            <a:off x="2974485" y="222892"/>
            <a:ext cx="6243029" cy="509906"/>
          </a:xfrm>
          <a:prstGeom prst="rect">
            <a:avLst/>
          </a:prstGeom>
          <a:noFill/>
        </p:spPr>
        <p:txBody>
          <a:bodyPr wrap="square" lIns="0" tIns="0" rIns="0" bIns="0" rtlCol="0" anchor="ctr"/>
          <a:lstStyle/>
          <a:p>
            <a:pPr algn="ctr">
              <a:lnSpc>
                <a:spcPts val="4016"/>
              </a:lnSpc>
              <a:buNone/>
            </a:pPr>
            <a:r>
              <a:rPr lang="en-US" sz="3188" dirty="0">
                <a:solidFill>
                  <a:srgbClr val="2A2921"/>
                </a:solidFill>
                <a:latin typeface="Montserrat" pitchFamily="34" charset="0"/>
                <a:ea typeface="Montserrat" pitchFamily="34" charset="-122"/>
                <a:cs typeface="Montserrat" pitchFamily="34" charset="-120"/>
              </a:rPr>
              <a:t>Model Training</a:t>
            </a:r>
            <a:endParaRPr lang="en-US" dirty="0"/>
          </a:p>
        </p:txBody>
      </p:sp>
      <p:sp>
        <p:nvSpPr>
          <p:cNvPr id="5" name="Object 4"/>
          <p:cNvSpPr/>
          <p:nvPr/>
        </p:nvSpPr>
        <p:spPr>
          <a:xfrm>
            <a:off x="2296219" y="634047"/>
            <a:ext cx="7599560" cy="1791443"/>
          </a:xfrm>
          <a:prstGeom prst="rect">
            <a:avLst/>
          </a:prstGeom>
          <a:noFill/>
        </p:spPr>
        <p:txBody>
          <a:bodyPr wrap="square" lIns="0" tIns="0" rIns="0" bIns="0" rtlCol="0" anchor="ctr"/>
          <a:lstStyle/>
          <a:p>
            <a:pPr algn="ctr">
              <a:lnSpc>
                <a:spcPts val="2016"/>
              </a:lnSpc>
              <a:spcBef>
                <a:spcPts val="836"/>
              </a:spcBef>
              <a:buNone/>
            </a:pPr>
            <a:r>
              <a:rPr lang="en-US" sz="1440" dirty="0">
                <a:solidFill>
                  <a:srgbClr val="5A5A4C"/>
                </a:solidFill>
                <a:latin typeface="Montserrat" pitchFamily="34" charset="0"/>
                <a:ea typeface="Montserrat" pitchFamily="34" charset="-122"/>
                <a:cs typeface="Montserrat" pitchFamily="34" charset="-120"/>
              </a:rPr>
              <a:t>The model training process involved splitting the dataset into training and testing sets, with the training set comprising 80% of the data (approximately 2,038 records) and the testing set comprising the remaining 20% (around 510 records). The team then performed hyperparameter tuning to optimize the model's performance, which is showcased through a training curve or screenshot.</a:t>
            </a:r>
            <a:endParaRPr lang="en-US" dirty="0"/>
          </a:p>
        </p:txBody>
      </p:sp>
      <p:pic>
        <p:nvPicPr>
          <p:cNvPr id="5122" name="Picture 2">
            <a:extLst>
              <a:ext uri="{FF2B5EF4-FFF2-40B4-BE49-F238E27FC236}">
                <a16:creationId xmlns:a16="http://schemas.microsoft.com/office/drawing/2014/main" id="{40405C53-4134-16D9-1871-80627ACCB1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130" y="2326741"/>
            <a:ext cx="11239738" cy="40534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9">
    <p:bg>
      <p:bgPr>
        <a:solidFill>
          <a:srgbClr val="000000"/>
        </a:solidFill>
        <a:effectLst/>
      </p:bgPr>
    </p:bg>
    <p:spTree>
      <p:nvGrpSpPr>
        <p:cNvPr id="1" name=""/>
        <p:cNvGrpSpPr/>
        <p:nvPr/>
      </p:nvGrpSpPr>
      <p:grpSpPr>
        <a:xfrm>
          <a:off x="0" y="0"/>
          <a:ext cx="0" cy="0"/>
          <a:chOff x="0" y="0"/>
          <a:chExt cx="0" cy="0"/>
        </a:xfrm>
      </p:grpSpPr>
      <p:sp>
        <p:nvSpPr>
          <p:cNvPr id="2" name="Object 1"/>
          <p:cNvSpPr/>
          <p:nvPr/>
        </p:nvSpPr>
        <p:spPr>
          <a:xfrm>
            <a:off x="0" y="362901"/>
            <a:ext cx="12188952" cy="509906"/>
          </a:xfrm>
          <a:prstGeom prst="rect">
            <a:avLst/>
          </a:prstGeom>
          <a:noFill/>
        </p:spPr>
        <p:txBody>
          <a:bodyPr wrap="square" lIns="0" tIns="0" rIns="0" bIns="0" rtlCol="0" anchor="t"/>
          <a:lstStyle/>
          <a:p>
            <a:pPr algn="ctr">
              <a:lnSpc>
                <a:spcPts val="4016"/>
              </a:lnSpc>
              <a:buNone/>
            </a:pPr>
            <a:r>
              <a:rPr lang="en-US" sz="3188" dirty="0">
                <a:solidFill>
                  <a:srgbClr val="FFFFFF"/>
                </a:solidFill>
                <a:latin typeface="Montserrat" pitchFamily="34" charset="0"/>
                <a:ea typeface="Montserrat" pitchFamily="34" charset="-122"/>
                <a:cs typeface="Montserrat" pitchFamily="34" charset="-120"/>
              </a:rPr>
              <a:t>Performance Evaluation</a:t>
            </a:r>
            <a:endParaRPr lang="en-US" dirty="0"/>
          </a:p>
        </p:txBody>
      </p:sp>
      <p:sp>
        <p:nvSpPr>
          <p:cNvPr id="3" name="Object 2"/>
          <p:cNvSpPr/>
          <p:nvPr/>
        </p:nvSpPr>
        <p:spPr>
          <a:xfrm>
            <a:off x="0" y="978449"/>
            <a:ext cx="12188952" cy="266633"/>
          </a:xfrm>
          <a:prstGeom prst="rect">
            <a:avLst/>
          </a:prstGeom>
          <a:noFill/>
        </p:spPr>
        <p:txBody>
          <a:bodyPr wrap="square" lIns="0" tIns="0" rIns="0" bIns="0" rtlCol="0" anchor="t"/>
          <a:lstStyle/>
          <a:p>
            <a:pPr algn="ctr">
              <a:lnSpc>
                <a:spcPts val="2100"/>
              </a:lnSpc>
              <a:spcBef>
                <a:spcPts val="816"/>
              </a:spcBef>
              <a:buNone/>
            </a:pPr>
            <a:r>
              <a:rPr lang="en-US" sz="1500" dirty="0">
                <a:solidFill>
                  <a:srgbClr val="FFFFFF">
                    <a:alpha val="90000"/>
                  </a:srgbClr>
                </a:solidFill>
                <a:latin typeface="Montserrat" pitchFamily="34" charset="0"/>
                <a:ea typeface="Montserrat" pitchFamily="34" charset="-122"/>
                <a:cs typeface="Montserrat" pitchFamily="34" charset="-120"/>
              </a:rPr>
              <a:t>Root Mean Squared Error (RMSE) for the evaluated models</a:t>
            </a:r>
            <a:endParaRPr lang="en-US" dirty="0"/>
          </a:p>
        </p:txBody>
      </p:sp>
      <p:sp>
        <p:nvSpPr>
          <p:cNvPr id="4" name="Object 3"/>
          <p:cNvSpPr/>
          <p:nvPr/>
        </p:nvSpPr>
        <p:spPr>
          <a:xfrm>
            <a:off x="476131" y="4541574"/>
            <a:ext cx="2018795" cy="1276746"/>
          </a:xfrm>
          <a:prstGeom prst="rect">
            <a:avLst/>
          </a:prstGeom>
          <a:noFill/>
          <a:ln w="25400">
            <a:solidFill>
              <a:srgbClr val="62A8BB"/>
            </a:solidFill>
            <a:prstDash val="solid"/>
            <a:miter lim="800000"/>
          </a:ln>
        </p:spPr>
      </p:sp>
      <p:sp>
        <p:nvSpPr>
          <p:cNvPr id="5" name="Object 4"/>
          <p:cNvSpPr/>
          <p:nvPr/>
        </p:nvSpPr>
        <p:spPr>
          <a:xfrm>
            <a:off x="375191" y="5957588"/>
            <a:ext cx="2220675" cy="230328"/>
          </a:xfrm>
          <a:prstGeom prst="rect">
            <a:avLst/>
          </a:prstGeom>
          <a:noFill/>
        </p:spPr>
        <p:txBody>
          <a:bodyPr wrap="square" lIns="0" tIns="0" rIns="0" bIns="0" rtlCol="0" anchor="t"/>
          <a:lstStyle/>
          <a:p>
            <a:pPr algn="ctr">
              <a:lnSpc>
                <a:spcPts val="1814"/>
              </a:lnSpc>
              <a:buNone/>
            </a:pPr>
            <a:r>
              <a:rPr lang="en-US" sz="1440" dirty="0">
                <a:solidFill>
                  <a:srgbClr val="FFFFFF"/>
                </a:solidFill>
                <a:latin typeface="Montserrat" pitchFamily="34" charset="0"/>
                <a:ea typeface="Montserrat" pitchFamily="34" charset="-122"/>
                <a:cs typeface="Montserrat" pitchFamily="34" charset="-120"/>
              </a:rPr>
              <a:t>ARIMA</a:t>
            </a:r>
            <a:endParaRPr lang="en-US" dirty="0"/>
          </a:p>
        </p:txBody>
      </p:sp>
      <p:sp>
        <p:nvSpPr>
          <p:cNvPr id="6" name="Object 5"/>
          <p:cNvSpPr/>
          <p:nvPr/>
        </p:nvSpPr>
        <p:spPr>
          <a:xfrm>
            <a:off x="1134620" y="4970301"/>
            <a:ext cx="701817" cy="407836"/>
          </a:xfrm>
          <a:prstGeom prst="rect">
            <a:avLst/>
          </a:prstGeom>
          <a:noFill/>
        </p:spPr>
        <p:txBody>
          <a:bodyPr wrap="square" lIns="0" tIns="0" rIns="0" bIns="0" rtlCol="0" anchor="t"/>
          <a:lstStyle/>
          <a:p>
            <a:pPr algn="ctr">
              <a:lnSpc>
                <a:spcPts val="3213"/>
              </a:lnSpc>
              <a:buNone/>
            </a:pPr>
            <a:r>
              <a:rPr lang="en-US" sz="2550" dirty="0">
                <a:solidFill>
                  <a:srgbClr val="FFFFFF"/>
                </a:solidFill>
                <a:latin typeface="Montserrat" pitchFamily="34" charset="0"/>
                <a:ea typeface="Montserrat" pitchFamily="34" charset="-122"/>
                <a:cs typeface="Montserrat" pitchFamily="34" charset="-120"/>
              </a:rPr>
              <a:t>3.67</a:t>
            </a:r>
            <a:endParaRPr lang="en-US" dirty="0"/>
          </a:p>
        </p:txBody>
      </p:sp>
      <p:sp>
        <p:nvSpPr>
          <p:cNvPr id="7" name="Object 6"/>
          <p:cNvSpPr/>
          <p:nvPr/>
        </p:nvSpPr>
        <p:spPr>
          <a:xfrm>
            <a:off x="2780606" y="4728375"/>
            <a:ext cx="2018795" cy="1089946"/>
          </a:xfrm>
          <a:prstGeom prst="rect">
            <a:avLst/>
          </a:prstGeom>
          <a:noFill/>
          <a:ln w="25400">
            <a:solidFill>
              <a:srgbClr val="F0B356"/>
            </a:solidFill>
            <a:prstDash val="solid"/>
            <a:miter lim="800000"/>
          </a:ln>
        </p:spPr>
      </p:sp>
      <p:sp>
        <p:nvSpPr>
          <p:cNvPr id="8" name="Object 7"/>
          <p:cNvSpPr/>
          <p:nvPr/>
        </p:nvSpPr>
        <p:spPr>
          <a:xfrm>
            <a:off x="2679665" y="5957588"/>
            <a:ext cx="2220675" cy="460657"/>
          </a:xfrm>
          <a:prstGeom prst="rect">
            <a:avLst/>
          </a:prstGeom>
          <a:noFill/>
        </p:spPr>
        <p:txBody>
          <a:bodyPr wrap="square" lIns="0" tIns="0" rIns="0" bIns="0" rtlCol="0" anchor="t"/>
          <a:lstStyle/>
          <a:p>
            <a:pPr algn="ctr">
              <a:lnSpc>
                <a:spcPts val="1814"/>
              </a:lnSpc>
              <a:buNone/>
            </a:pPr>
            <a:r>
              <a:rPr lang="en-US" sz="1440" dirty="0">
                <a:solidFill>
                  <a:srgbClr val="FFFFFF"/>
                </a:solidFill>
                <a:latin typeface="Montserrat" pitchFamily="34" charset="0"/>
                <a:ea typeface="Montserrat" pitchFamily="34" charset="-122"/>
                <a:cs typeface="Montserrat" pitchFamily="34" charset="-120"/>
              </a:rPr>
              <a:t>Exponential Smoothing</a:t>
            </a:r>
            <a:endParaRPr lang="en-US" dirty="0"/>
          </a:p>
        </p:txBody>
      </p:sp>
      <p:sp>
        <p:nvSpPr>
          <p:cNvPr id="9" name="Object 8"/>
          <p:cNvSpPr/>
          <p:nvPr/>
        </p:nvSpPr>
        <p:spPr>
          <a:xfrm>
            <a:off x="3418144" y="5063701"/>
            <a:ext cx="743717" cy="407836"/>
          </a:xfrm>
          <a:prstGeom prst="rect">
            <a:avLst/>
          </a:prstGeom>
          <a:noFill/>
        </p:spPr>
        <p:txBody>
          <a:bodyPr wrap="square" lIns="0" tIns="0" rIns="0" bIns="0" rtlCol="0" anchor="t"/>
          <a:lstStyle/>
          <a:p>
            <a:pPr algn="ctr">
              <a:lnSpc>
                <a:spcPts val="3213"/>
              </a:lnSpc>
              <a:buNone/>
            </a:pPr>
            <a:r>
              <a:rPr lang="en-US" sz="2550" dirty="0">
                <a:solidFill>
                  <a:srgbClr val="FFFFFF"/>
                </a:solidFill>
                <a:latin typeface="Montserrat" pitchFamily="34" charset="0"/>
                <a:ea typeface="Montserrat" pitchFamily="34" charset="-122"/>
                <a:cs typeface="Montserrat" pitchFamily="34" charset="-120"/>
              </a:rPr>
              <a:t>3.44</a:t>
            </a:r>
            <a:endParaRPr lang="en-US" dirty="0"/>
          </a:p>
        </p:txBody>
      </p:sp>
      <p:sp>
        <p:nvSpPr>
          <p:cNvPr id="10" name="Object 9"/>
          <p:cNvSpPr/>
          <p:nvPr/>
        </p:nvSpPr>
        <p:spPr>
          <a:xfrm>
            <a:off x="5085077" y="4988273"/>
            <a:ext cx="2018795" cy="830048"/>
          </a:xfrm>
          <a:prstGeom prst="rect">
            <a:avLst/>
          </a:prstGeom>
          <a:noFill/>
          <a:ln w="25400">
            <a:solidFill>
              <a:srgbClr val="E66922"/>
            </a:solidFill>
            <a:prstDash val="solid"/>
            <a:miter lim="800000"/>
          </a:ln>
        </p:spPr>
      </p:sp>
      <p:sp>
        <p:nvSpPr>
          <p:cNvPr id="11" name="Object 10"/>
          <p:cNvSpPr/>
          <p:nvPr/>
        </p:nvSpPr>
        <p:spPr>
          <a:xfrm>
            <a:off x="4984139" y="5957588"/>
            <a:ext cx="2220675" cy="230328"/>
          </a:xfrm>
          <a:prstGeom prst="rect">
            <a:avLst/>
          </a:prstGeom>
          <a:noFill/>
        </p:spPr>
        <p:txBody>
          <a:bodyPr wrap="square" lIns="0" tIns="0" rIns="0" bIns="0" rtlCol="0" anchor="t"/>
          <a:lstStyle/>
          <a:p>
            <a:pPr algn="ctr">
              <a:lnSpc>
                <a:spcPts val="1814"/>
              </a:lnSpc>
              <a:buNone/>
            </a:pPr>
            <a:r>
              <a:rPr lang="en-US" sz="1440" dirty="0">
                <a:solidFill>
                  <a:srgbClr val="FFFFFF"/>
                </a:solidFill>
                <a:latin typeface="Montserrat" pitchFamily="34" charset="0"/>
                <a:ea typeface="Montserrat" pitchFamily="34" charset="-122"/>
                <a:cs typeface="Montserrat" pitchFamily="34" charset="-120"/>
              </a:rPr>
              <a:t>Linear Regression</a:t>
            </a:r>
            <a:endParaRPr lang="en-US" dirty="0"/>
          </a:p>
        </p:txBody>
      </p:sp>
      <p:sp>
        <p:nvSpPr>
          <p:cNvPr id="12" name="Object 11"/>
          <p:cNvSpPr/>
          <p:nvPr/>
        </p:nvSpPr>
        <p:spPr>
          <a:xfrm>
            <a:off x="5790704" y="5193650"/>
            <a:ext cx="607543" cy="407836"/>
          </a:xfrm>
          <a:prstGeom prst="rect">
            <a:avLst/>
          </a:prstGeom>
          <a:noFill/>
        </p:spPr>
        <p:txBody>
          <a:bodyPr wrap="square" lIns="0" tIns="0" rIns="0" bIns="0" rtlCol="0" anchor="t"/>
          <a:lstStyle/>
          <a:p>
            <a:pPr algn="ctr">
              <a:lnSpc>
                <a:spcPts val="3213"/>
              </a:lnSpc>
              <a:buNone/>
            </a:pPr>
            <a:r>
              <a:rPr lang="en-US" sz="2550" dirty="0">
                <a:solidFill>
                  <a:srgbClr val="FFFFFF"/>
                </a:solidFill>
                <a:latin typeface="Montserrat" pitchFamily="34" charset="0"/>
                <a:ea typeface="Montserrat" pitchFamily="34" charset="-122"/>
                <a:cs typeface="Montserrat" pitchFamily="34" charset="-120"/>
              </a:rPr>
              <a:t>3.12</a:t>
            </a:r>
            <a:endParaRPr lang="en-US" dirty="0"/>
          </a:p>
        </p:txBody>
      </p:sp>
      <p:sp>
        <p:nvSpPr>
          <p:cNvPr id="13" name="Object 12"/>
          <p:cNvSpPr/>
          <p:nvPr/>
        </p:nvSpPr>
        <p:spPr>
          <a:xfrm>
            <a:off x="7389553" y="5126343"/>
            <a:ext cx="2018795" cy="691977"/>
          </a:xfrm>
          <a:prstGeom prst="rect">
            <a:avLst/>
          </a:prstGeom>
          <a:noFill/>
          <a:ln w="25400">
            <a:solidFill>
              <a:srgbClr val="14558C"/>
            </a:solidFill>
            <a:prstDash val="solid"/>
            <a:miter lim="800000"/>
          </a:ln>
        </p:spPr>
      </p:sp>
      <p:sp>
        <p:nvSpPr>
          <p:cNvPr id="14" name="Object 13"/>
          <p:cNvSpPr/>
          <p:nvPr/>
        </p:nvSpPr>
        <p:spPr>
          <a:xfrm>
            <a:off x="7288612" y="5957588"/>
            <a:ext cx="2220675" cy="460657"/>
          </a:xfrm>
          <a:prstGeom prst="rect">
            <a:avLst/>
          </a:prstGeom>
          <a:noFill/>
        </p:spPr>
        <p:txBody>
          <a:bodyPr wrap="square" lIns="0" tIns="0" rIns="0" bIns="0" rtlCol="0" anchor="t"/>
          <a:lstStyle/>
          <a:p>
            <a:pPr algn="ctr">
              <a:lnSpc>
                <a:spcPts val="1814"/>
              </a:lnSpc>
              <a:buNone/>
            </a:pPr>
            <a:r>
              <a:rPr lang="en-US" sz="1440" dirty="0">
                <a:solidFill>
                  <a:srgbClr val="FFFFFF"/>
                </a:solidFill>
                <a:latin typeface="Montserrat" pitchFamily="34" charset="0"/>
                <a:ea typeface="Montserrat" pitchFamily="34" charset="-122"/>
                <a:cs typeface="Montserrat" pitchFamily="34" charset="-120"/>
              </a:rPr>
              <a:t>Exponential Regression</a:t>
            </a:r>
            <a:endParaRPr lang="en-US" dirty="0"/>
          </a:p>
        </p:txBody>
      </p:sp>
      <p:sp>
        <p:nvSpPr>
          <p:cNvPr id="15" name="Object 14"/>
          <p:cNvSpPr/>
          <p:nvPr/>
        </p:nvSpPr>
        <p:spPr>
          <a:xfrm>
            <a:off x="8048041" y="5262685"/>
            <a:ext cx="701817" cy="407836"/>
          </a:xfrm>
          <a:prstGeom prst="rect">
            <a:avLst/>
          </a:prstGeom>
          <a:noFill/>
        </p:spPr>
        <p:txBody>
          <a:bodyPr wrap="square" lIns="0" tIns="0" rIns="0" bIns="0" rtlCol="0" anchor="t"/>
          <a:lstStyle/>
          <a:p>
            <a:pPr algn="ctr">
              <a:lnSpc>
                <a:spcPts val="3213"/>
              </a:lnSpc>
              <a:buNone/>
            </a:pPr>
            <a:r>
              <a:rPr lang="en-US" sz="2550" dirty="0">
                <a:solidFill>
                  <a:srgbClr val="FFFFFF"/>
                </a:solidFill>
                <a:latin typeface="Montserrat" pitchFamily="34" charset="0"/>
                <a:ea typeface="Montserrat" pitchFamily="34" charset="-122"/>
                <a:cs typeface="Montserrat" pitchFamily="34" charset="-120"/>
              </a:rPr>
              <a:t>2.95</a:t>
            </a:r>
            <a:endParaRPr lang="en-US" dirty="0"/>
          </a:p>
        </p:txBody>
      </p:sp>
      <p:sp>
        <p:nvSpPr>
          <p:cNvPr id="16" name="Object 15"/>
          <p:cNvSpPr/>
          <p:nvPr/>
        </p:nvSpPr>
        <p:spPr>
          <a:xfrm>
            <a:off x="9694023" y="1666458"/>
            <a:ext cx="2018800" cy="4151862"/>
          </a:xfrm>
          <a:prstGeom prst="rect">
            <a:avLst/>
          </a:prstGeom>
          <a:noFill/>
          <a:ln w="25400">
            <a:solidFill>
              <a:srgbClr val="62A8BB"/>
            </a:solidFill>
            <a:prstDash val="solid"/>
            <a:miter lim="800000"/>
          </a:ln>
        </p:spPr>
      </p:sp>
      <p:sp>
        <p:nvSpPr>
          <p:cNvPr id="17" name="Object 16"/>
          <p:cNvSpPr/>
          <p:nvPr/>
        </p:nvSpPr>
        <p:spPr>
          <a:xfrm>
            <a:off x="9593086" y="5957588"/>
            <a:ext cx="2220675" cy="230328"/>
          </a:xfrm>
          <a:prstGeom prst="rect">
            <a:avLst/>
          </a:prstGeom>
          <a:noFill/>
        </p:spPr>
        <p:txBody>
          <a:bodyPr wrap="square" lIns="0" tIns="0" rIns="0" bIns="0" rtlCol="0" anchor="t"/>
          <a:lstStyle/>
          <a:p>
            <a:pPr algn="ctr">
              <a:lnSpc>
                <a:spcPts val="1814"/>
              </a:lnSpc>
              <a:buNone/>
            </a:pPr>
            <a:r>
              <a:rPr lang="en-US" sz="1440" dirty="0">
                <a:solidFill>
                  <a:srgbClr val="FFFFFF"/>
                </a:solidFill>
                <a:latin typeface="Montserrat" pitchFamily="34" charset="0"/>
                <a:ea typeface="Montserrat" pitchFamily="34" charset="-122"/>
                <a:cs typeface="Montserrat" pitchFamily="34" charset="-120"/>
              </a:rPr>
              <a:t>Prophet</a:t>
            </a:r>
            <a:endParaRPr lang="en-US" dirty="0"/>
          </a:p>
        </p:txBody>
      </p:sp>
      <p:sp>
        <p:nvSpPr>
          <p:cNvPr id="18" name="Object 17"/>
          <p:cNvSpPr/>
          <p:nvPr/>
        </p:nvSpPr>
        <p:spPr>
          <a:xfrm>
            <a:off x="10399652" y="3532743"/>
            <a:ext cx="607543" cy="407836"/>
          </a:xfrm>
          <a:prstGeom prst="rect">
            <a:avLst/>
          </a:prstGeom>
          <a:noFill/>
        </p:spPr>
        <p:txBody>
          <a:bodyPr wrap="square" lIns="0" tIns="0" rIns="0" bIns="0" rtlCol="0" anchor="t"/>
          <a:lstStyle/>
          <a:p>
            <a:pPr algn="ctr">
              <a:lnSpc>
                <a:spcPts val="3213"/>
              </a:lnSpc>
              <a:buNone/>
            </a:pPr>
            <a:r>
              <a:rPr lang="en-US" sz="2550" dirty="0">
                <a:solidFill>
                  <a:srgbClr val="FFFFFF"/>
                </a:solidFill>
                <a:latin typeface="Montserrat" pitchFamily="34" charset="0"/>
                <a:ea typeface="Montserrat" pitchFamily="34" charset="-122"/>
                <a:cs typeface="Montserrat" pitchFamily="34" charset="-120"/>
              </a:rPr>
              <a:t>7.21</a:t>
            </a:r>
            <a:endParaRPr lang="en-US"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Object 1"/>
          <p:cNvSpPr/>
          <p:nvPr/>
        </p:nvSpPr>
        <p:spPr>
          <a:xfrm>
            <a:off x="0" y="362901"/>
            <a:ext cx="12188952" cy="509906"/>
          </a:xfrm>
          <a:prstGeom prst="rect">
            <a:avLst/>
          </a:prstGeom>
          <a:noFill/>
        </p:spPr>
        <p:txBody>
          <a:bodyPr wrap="square" lIns="0" tIns="0" rIns="0" bIns="0" rtlCol="0" anchor="t"/>
          <a:lstStyle/>
          <a:p>
            <a:pPr algn="ctr">
              <a:lnSpc>
                <a:spcPts val="4016"/>
              </a:lnSpc>
              <a:buNone/>
            </a:pPr>
            <a:r>
              <a:rPr lang="en-US" sz="3188" dirty="0">
                <a:solidFill>
                  <a:srgbClr val="FFFFFF"/>
                </a:solidFill>
                <a:latin typeface="Montserrat" pitchFamily="34" charset="0"/>
                <a:ea typeface="Montserrat" pitchFamily="34" charset="-122"/>
                <a:cs typeface="Montserrat" pitchFamily="34" charset="-120"/>
              </a:rPr>
              <a:t>Performance Evaluation</a:t>
            </a:r>
            <a:endParaRPr lang="en-US" dirty="0"/>
          </a:p>
        </p:txBody>
      </p:sp>
      <p:sp>
        <p:nvSpPr>
          <p:cNvPr id="3" name="Object 2"/>
          <p:cNvSpPr/>
          <p:nvPr/>
        </p:nvSpPr>
        <p:spPr>
          <a:xfrm>
            <a:off x="0" y="978449"/>
            <a:ext cx="12188952" cy="266633"/>
          </a:xfrm>
          <a:prstGeom prst="rect">
            <a:avLst/>
          </a:prstGeom>
          <a:noFill/>
        </p:spPr>
        <p:txBody>
          <a:bodyPr wrap="square" lIns="0" tIns="0" rIns="0" bIns="0" rtlCol="0" anchor="t"/>
          <a:lstStyle/>
          <a:p>
            <a:pPr algn="ctr">
              <a:lnSpc>
                <a:spcPts val="2100"/>
              </a:lnSpc>
              <a:spcBef>
                <a:spcPts val="816"/>
              </a:spcBef>
            </a:pPr>
            <a:r>
              <a:rPr lang="en-US" sz="1500" dirty="0">
                <a:solidFill>
                  <a:srgbClr val="FFFFFF">
                    <a:alpha val="90000"/>
                  </a:srgbClr>
                </a:solidFill>
                <a:latin typeface="Montserrat" pitchFamily="34" charset="0"/>
                <a:ea typeface="Montserrat" pitchFamily="34" charset="-122"/>
                <a:cs typeface="Montserrat" pitchFamily="34" charset="-120"/>
              </a:rPr>
              <a:t>Best model with Root Mean Squared Error (RMSE) of 0.785 was </a:t>
            </a:r>
            <a:r>
              <a:rPr lang="en-US" sz="1600" b="0" dirty="0">
                <a:solidFill>
                  <a:srgbClr val="82B76C"/>
                </a:solidFill>
                <a:effectLst/>
                <a:latin typeface="Courier New" panose="02070309020205020404" pitchFamily="49" charset="0"/>
              </a:rPr>
              <a:t>Exponential Model with transformed features.</a:t>
            </a:r>
            <a:endParaRPr lang="en-US" sz="1600" b="0" dirty="0">
              <a:solidFill>
                <a:srgbClr val="D4D4D4"/>
              </a:solidFill>
              <a:effectLst/>
              <a:latin typeface="Courier New" panose="02070309020205020404" pitchFamily="49" charset="0"/>
            </a:endParaRPr>
          </a:p>
        </p:txBody>
      </p:sp>
      <p:sp>
        <p:nvSpPr>
          <p:cNvPr id="13" name="Object 12"/>
          <p:cNvSpPr/>
          <p:nvPr/>
        </p:nvSpPr>
        <p:spPr>
          <a:xfrm>
            <a:off x="527024" y="1477063"/>
            <a:ext cx="2220675" cy="505921"/>
          </a:xfrm>
          <a:prstGeom prst="rect">
            <a:avLst/>
          </a:prstGeom>
          <a:noFill/>
          <a:ln w="25400">
            <a:solidFill>
              <a:srgbClr val="00B050"/>
            </a:solidFill>
            <a:prstDash val="solid"/>
            <a:miter lim="800000"/>
          </a:ln>
        </p:spPr>
      </p:sp>
      <p:sp>
        <p:nvSpPr>
          <p:cNvPr id="14" name="Object 13"/>
          <p:cNvSpPr/>
          <p:nvPr/>
        </p:nvSpPr>
        <p:spPr>
          <a:xfrm>
            <a:off x="527024" y="2108525"/>
            <a:ext cx="2220675" cy="460657"/>
          </a:xfrm>
          <a:prstGeom prst="rect">
            <a:avLst/>
          </a:prstGeom>
          <a:noFill/>
        </p:spPr>
        <p:txBody>
          <a:bodyPr wrap="square" lIns="0" tIns="0" rIns="0" bIns="0" rtlCol="0" anchor="t"/>
          <a:lstStyle/>
          <a:p>
            <a:pPr algn="ctr">
              <a:lnSpc>
                <a:spcPts val="1814"/>
              </a:lnSpc>
              <a:buNone/>
            </a:pPr>
            <a:r>
              <a:rPr lang="en-US" sz="1440" dirty="0">
                <a:solidFill>
                  <a:srgbClr val="FFFFFF"/>
                </a:solidFill>
                <a:latin typeface="Montserrat" pitchFamily="34" charset="0"/>
                <a:ea typeface="Montserrat" pitchFamily="34" charset="-122"/>
                <a:cs typeface="Montserrat" pitchFamily="34" charset="-120"/>
              </a:rPr>
              <a:t>Exponential Regression  </a:t>
            </a:r>
            <a:r>
              <a:rPr lang="en-IN" b="0" i="0" dirty="0">
                <a:solidFill>
                  <a:srgbClr val="E3E3E3"/>
                </a:solidFill>
                <a:effectLst/>
                <a:latin typeface="Courier New" panose="02070309020205020404" pitchFamily="49" charset="0"/>
              </a:rPr>
              <a:t>Log-transformed High + Low</a:t>
            </a:r>
            <a:endParaRPr lang="en-US" dirty="0"/>
          </a:p>
        </p:txBody>
      </p:sp>
      <p:sp>
        <p:nvSpPr>
          <p:cNvPr id="15" name="Object 14"/>
          <p:cNvSpPr/>
          <p:nvPr/>
        </p:nvSpPr>
        <p:spPr>
          <a:xfrm>
            <a:off x="1161809" y="1477063"/>
            <a:ext cx="951104" cy="407836"/>
          </a:xfrm>
          <a:prstGeom prst="rect">
            <a:avLst/>
          </a:prstGeom>
          <a:noFill/>
        </p:spPr>
        <p:txBody>
          <a:bodyPr wrap="square" lIns="0" tIns="0" rIns="0" bIns="0" rtlCol="0" anchor="t"/>
          <a:lstStyle/>
          <a:p>
            <a:pPr algn="ctr">
              <a:lnSpc>
                <a:spcPts val="3213"/>
              </a:lnSpc>
              <a:buNone/>
            </a:pPr>
            <a:r>
              <a:rPr lang="en-IN" sz="2800" b="0" i="0" dirty="0">
                <a:solidFill>
                  <a:srgbClr val="E3E3E3"/>
                </a:solidFill>
                <a:effectLst/>
                <a:latin typeface="Courier New" panose="02070309020205020404" pitchFamily="49" charset="0"/>
              </a:rPr>
              <a:t>0.78</a:t>
            </a:r>
            <a:endParaRPr lang="en-US" dirty="0"/>
          </a:p>
        </p:txBody>
      </p:sp>
      <p:sp>
        <p:nvSpPr>
          <p:cNvPr id="24" name="TextBox 23">
            <a:extLst>
              <a:ext uri="{FF2B5EF4-FFF2-40B4-BE49-F238E27FC236}">
                <a16:creationId xmlns:a16="http://schemas.microsoft.com/office/drawing/2014/main" id="{8B4BE7F8-04B7-117E-278A-FB66A9B3664A}"/>
              </a:ext>
            </a:extLst>
          </p:cNvPr>
          <p:cNvSpPr txBox="1"/>
          <p:nvPr/>
        </p:nvSpPr>
        <p:spPr>
          <a:xfrm>
            <a:off x="5748950" y="1212251"/>
            <a:ext cx="6753886" cy="5909310"/>
          </a:xfrm>
          <a:prstGeom prst="rect">
            <a:avLst/>
          </a:prstGeom>
          <a:noFill/>
        </p:spPr>
        <p:txBody>
          <a:bodyPr wrap="square" rtlCol="0">
            <a:spAutoFit/>
          </a:bodyPr>
          <a:lstStyle/>
          <a:p>
            <a:r>
              <a:rPr lang="en-IN" sz="1400" b="0" dirty="0">
                <a:solidFill>
                  <a:srgbClr val="C99CC6"/>
                </a:solidFill>
                <a:effectLst/>
                <a:latin typeface="Courier New" panose="02070309020205020404" pitchFamily="49" charset="0"/>
              </a:rPr>
              <a:t>import</a:t>
            </a:r>
            <a:r>
              <a:rPr lang="en-IN" sz="1400" b="0" dirty="0">
                <a:solidFill>
                  <a:srgbClr val="D4D4D4"/>
                </a:solidFill>
                <a:effectLst/>
                <a:latin typeface="Courier New" panose="02070309020205020404" pitchFamily="49" charset="0"/>
              </a:rPr>
              <a:t> </a:t>
            </a:r>
            <a:r>
              <a:rPr lang="en-IN" sz="1400" b="0" dirty="0" err="1">
                <a:solidFill>
                  <a:srgbClr val="D4D4D4"/>
                </a:solidFill>
                <a:effectLst/>
                <a:latin typeface="Courier New" panose="02070309020205020404" pitchFamily="49" charset="0"/>
              </a:rPr>
              <a:t>numpy</a:t>
            </a:r>
            <a:r>
              <a:rPr lang="en-IN" sz="1400" b="0" dirty="0">
                <a:solidFill>
                  <a:srgbClr val="D4D4D4"/>
                </a:solidFill>
                <a:effectLst/>
                <a:latin typeface="Courier New" panose="02070309020205020404" pitchFamily="49" charset="0"/>
              </a:rPr>
              <a:t> </a:t>
            </a:r>
            <a:r>
              <a:rPr lang="en-IN" sz="1400" b="0" dirty="0">
                <a:solidFill>
                  <a:srgbClr val="C99CC6"/>
                </a:solidFill>
                <a:effectLst/>
                <a:latin typeface="Courier New" panose="02070309020205020404" pitchFamily="49" charset="0"/>
              </a:rPr>
              <a:t>as</a:t>
            </a:r>
            <a:r>
              <a:rPr lang="en-IN" sz="1400" b="0" dirty="0">
                <a:solidFill>
                  <a:srgbClr val="D4D4D4"/>
                </a:solidFill>
                <a:effectLst/>
                <a:latin typeface="Courier New" panose="02070309020205020404" pitchFamily="49" charset="0"/>
              </a:rPr>
              <a:t> np</a:t>
            </a:r>
          </a:p>
          <a:p>
            <a:r>
              <a:rPr lang="en-IN" sz="1400" b="0" dirty="0">
                <a:solidFill>
                  <a:srgbClr val="C99CC6"/>
                </a:solidFill>
                <a:effectLst/>
                <a:latin typeface="Courier New" panose="02070309020205020404" pitchFamily="49" charset="0"/>
              </a:rPr>
              <a:t>import</a:t>
            </a:r>
            <a:r>
              <a:rPr lang="en-IN" sz="1400" b="0" dirty="0">
                <a:solidFill>
                  <a:srgbClr val="D4D4D4"/>
                </a:solidFill>
                <a:effectLst/>
                <a:latin typeface="Courier New" panose="02070309020205020404" pitchFamily="49" charset="0"/>
              </a:rPr>
              <a:t> </a:t>
            </a:r>
            <a:r>
              <a:rPr lang="en-IN" sz="1400" b="0" dirty="0" err="1">
                <a:solidFill>
                  <a:srgbClr val="D4D4D4"/>
                </a:solidFill>
                <a:effectLst/>
                <a:latin typeface="Courier New" panose="02070309020205020404" pitchFamily="49" charset="0"/>
              </a:rPr>
              <a:t>statsmodels.formula.api</a:t>
            </a:r>
            <a:r>
              <a:rPr lang="en-IN" sz="1400" b="0" dirty="0">
                <a:solidFill>
                  <a:srgbClr val="D4D4D4"/>
                </a:solidFill>
                <a:effectLst/>
                <a:latin typeface="Courier New" panose="02070309020205020404" pitchFamily="49" charset="0"/>
              </a:rPr>
              <a:t> </a:t>
            </a:r>
            <a:r>
              <a:rPr lang="en-IN" sz="1400" b="0" dirty="0">
                <a:solidFill>
                  <a:srgbClr val="C99CC6"/>
                </a:solidFill>
                <a:effectLst/>
                <a:latin typeface="Courier New" panose="02070309020205020404" pitchFamily="49" charset="0"/>
              </a:rPr>
              <a:t>as</a:t>
            </a:r>
            <a:r>
              <a:rPr lang="en-IN" sz="1400" b="0" dirty="0">
                <a:solidFill>
                  <a:srgbClr val="D4D4D4"/>
                </a:solidFill>
                <a:effectLst/>
                <a:latin typeface="Courier New" panose="02070309020205020404" pitchFamily="49" charset="0"/>
              </a:rPr>
              <a:t> </a:t>
            </a:r>
            <a:r>
              <a:rPr lang="en-IN" sz="1400" b="0" dirty="0" err="1">
                <a:solidFill>
                  <a:srgbClr val="D4D4D4"/>
                </a:solidFill>
                <a:effectLst/>
                <a:latin typeface="Courier New" panose="02070309020205020404" pitchFamily="49" charset="0"/>
              </a:rPr>
              <a:t>smf</a:t>
            </a:r>
            <a:endParaRPr lang="en-IN" sz="1400" b="0" dirty="0">
              <a:solidFill>
                <a:srgbClr val="D4D4D4"/>
              </a:solidFill>
              <a:effectLst/>
              <a:latin typeface="Courier New" panose="02070309020205020404" pitchFamily="49" charset="0"/>
            </a:endParaRPr>
          </a:p>
          <a:p>
            <a:r>
              <a:rPr lang="en-IN" sz="1400" b="0" dirty="0">
                <a:solidFill>
                  <a:srgbClr val="C99CC6"/>
                </a:solidFill>
                <a:effectLst/>
                <a:latin typeface="Courier New" panose="02070309020205020404" pitchFamily="49" charset="0"/>
              </a:rPr>
              <a:t>from</a:t>
            </a:r>
            <a:r>
              <a:rPr lang="en-IN" sz="1400" b="0" dirty="0">
                <a:solidFill>
                  <a:srgbClr val="D4D4D4"/>
                </a:solidFill>
                <a:effectLst/>
                <a:latin typeface="Courier New" panose="02070309020205020404" pitchFamily="49" charset="0"/>
              </a:rPr>
              <a:t> </a:t>
            </a:r>
            <a:r>
              <a:rPr lang="en-IN" sz="1400" b="0" dirty="0" err="1">
                <a:solidFill>
                  <a:srgbClr val="D4D4D4"/>
                </a:solidFill>
                <a:effectLst/>
                <a:latin typeface="Courier New" panose="02070309020205020404" pitchFamily="49" charset="0"/>
              </a:rPr>
              <a:t>sklearn.metrics</a:t>
            </a:r>
            <a:r>
              <a:rPr lang="en-IN" sz="1400" b="0" dirty="0">
                <a:solidFill>
                  <a:srgbClr val="D4D4D4"/>
                </a:solidFill>
                <a:effectLst/>
                <a:latin typeface="Courier New" panose="02070309020205020404" pitchFamily="49" charset="0"/>
              </a:rPr>
              <a:t> </a:t>
            </a:r>
            <a:r>
              <a:rPr lang="en-IN" sz="1400" b="0" dirty="0">
                <a:solidFill>
                  <a:srgbClr val="C99CC6"/>
                </a:solidFill>
                <a:effectLst/>
                <a:latin typeface="Courier New" panose="02070309020205020404" pitchFamily="49" charset="0"/>
              </a:rPr>
              <a:t>import</a:t>
            </a:r>
            <a:r>
              <a:rPr lang="en-IN" sz="1400" b="0" dirty="0">
                <a:solidFill>
                  <a:srgbClr val="D4D4D4"/>
                </a:solidFill>
                <a:effectLst/>
                <a:latin typeface="Courier New" panose="02070309020205020404" pitchFamily="49" charset="0"/>
              </a:rPr>
              <a:t> </a:t>
            </a:r>
            <a:r>
              <a:rPr lang="en-IN" sz="1400" b="0" dirty="0" err="1">
                <a:solidFill>
                  <a:srgbClr val="D4D4D4"/>
                </a:solidFill>
                <a:effectLst/>
                <a:latin typeface="Courier New" panose="02070309020205020404" pitchFamily="49" charset="0"/>
              </a:rPr>
              <a:t>mean_squared_error</a:t>
            </a:r>
            <a:endParaRPr lang="en-IN" sz="1400" b="0" dirty="0">
              <a:solidFill>
                <a:srgbClr val="D4D4D4"/>
              </a:solidFill>
              <a:effectLst/>
              <a:latin typeface="Courier New" panose="02070309020205020404" pitchFamily="49" charset="0"/>
            </a:endParaRPr>
          </a:p>
          <a:p>
            <a:br>
              <a:rPr lang="en-IN" sz="1400" b="0" dirty="0">
                <a:solidFill>
                  <a:srgbClr val="D4D4D4"/>
                </a:solidFill>
                <a:effectLst/>
                <a:latin typeface="Courier New" panose="02070309020205020404" pitchFamily="49" charset="0"/>
              </a:rPr>
            </a:br>
            <a:r>
              <a:rPr lang="en-IN" sz="1400" b="0" dirty="0">
                <a:solidFill>
                  <a:srgbClr val="82B76C"/>
                </a:solidFill>
                <a:effectLst/>
                <a:latin typeface="Courier New" panose="02070309020205020404" pitchFamily="49" charset="0"/>
              </a:rPr>
              <a:t># Log-transform predictors to reduce skewness</a:t>
            </a:r>
            <a:endParaRPr lang="en-IN" sz="1400" b="0" dirty="0">
              <a:solidFill>
                <a:srgbClr val="D4D4D4"/>
              </a:solidFill>
              <a:effectLst/>
              <a:latin typeface="Courier New" panose="02070309020205020404" pitchFamily="49" charset="0"/>
            </a:endParaRPr>
          </a:p>
          <a:p>
            <a:r>
              <a:rPr lang="en-IN" sz="1400" b="0" dirty="0">
                <a:solidFill>
                  <a:srgbClr val="D4D4D4"/>
                </a:solidFill>
                <a:effectLst/>
                <a:latin typeface="Courier New" panose="02070309020205020404" pitchFamily="49" charset="0"/>
              </a:rPr>
              <a:t>df2</a:t>
            </a:r>
            <a:r>
              <a:rPr lang="en-IN" sz="1400" b="0" dirty="0">
                <a:solidFill>
                  <a:srgbClr val="DCDCDC"/>
                </a:solidFill>
                <a:effectLst/>
                <a:latin typeface="Courier New" panose="02070309020205020404" pitchFamily="49" charset="0"/>
              </a:rPr>
              <a:t>[</a:t>
            </a:r>
            <a:r>
              <a:rPr lang="en-IN" sz="1400" b="0" dirty="0">
                <a:solidFill>
                  <a:srgbClr val="CE9178"/>
                </a:solidFill>
                <a:effectLst/>
                <a:latin typeface="Courier New" panose="02070309020205020404" pitchFamily="49" charset="0"/>
              </a:rPr>
              <a:t>'</a:t>
            </a:r>
            <a:r>
              <a:rPr lang="en-IN" sz="1400" b="0" dirty="0" err="1">
                <a:solidFill>
                  <a:srgbClr val="CE9178"/>
                </a:solidFill>
                <a:effectLst/>
                <a:latin typeface="Courier New" panose="02070309020205020404" pitchFamily="49" charset="0"/>
              </a:rPr>
              <a:t>LogHigh</a:t>
            </a:r>
            <a:r>
              <a:rPr lang="en-IN" sz="1400" b="0" dirty="0">
                <a:solidFill>
                  <a:srgbClr val="CE9178"/>
                </a:solidFill>
                <a:effectLst/>
                <a:latin typeface="Courier New" panose="02070309020205020404" pitchFamily="49" charset="0"/>
              </a:rPr>
              <a:t>'</a:t>
            </a:r>
            <a:r>
              <a:rPr lang="en-IN" sz="1400" b="0" dirty="0">
                <a:solidFill>
                  <a:srgbClr val="DCDCDC"/>
                </a:solidFill>
                <a:effectLst/>
                <a:latin typeface="Courier New" panose="02070309020205020404" pitchFamily="49" charset="0"/>
              </a:rPr>
              <a:t>]</a:t>
            </a:r>
            <a:r>
              <a:rPr lang="en-IN" sz="1400" b="0" dirty="0">
                <a:solidFill>
                  <a:srgbClr val="D4D4D4"/>
                </a:solidFill>
                <a:effectLst/>
                <a:latin typeface="Courier New" panose="02070309020205020404" pitchFamily="49" charset="0"/>
              </a:rPr>
              <a:t> = np.log</a:t>
            </a:r>
            <a:r>
              <a:rPr lang="en-IN" sz="1400" b="0" dirty="0">
                <a:solidFill>
                  <a:srgbClr val="DCDCDC"/>
                </a:solidFill>
                <a:effectLst/>
                <a:latin typeface="Courier New" panose="02070309020205020404" pitchFamily="49" charset="0"/>
              </a:rPr>
              <a:t>(</a:t>
            </a:r>
            <a:r>
              <a:rPr lang="en-IN" sz="1400" b="0" dirty="0">
                <a:solidFill>
                  <a:srgbClr val="D4D4D4"/>
                </a:solidFill>
                <a:effectLst/>
                <a:latin typeface="Courier New" panose="02070309020205020404" pitchFamily="49" charset="0"/>
              </a:rPr>
              <a:t>df2</a:t>
            </a:r>
            <a:r>
              <a:rPr lang="en-IN" sz="1400" b="0" dirty="0">
                <a:solidFill>
                  <a:srgbClr val="DCDCDC"/>
                </a:solidFill>
                <a:effectLst/>
                <a:latin typeface="Courier New" panose="02070309020205020404" pitchFamily="49" charset="0"/>
              </a:rPr>
              <a:t>[</a:t>
            </a:r>
            <a:r>
              <a:rPr lang="en-IN" sz="1400" b="0" dirty="0">
                <a:solidFill>
                  <a:srgbClr val="CE9178"/>
                </a:solidFill>
                <a:effectLst/>
                <a:latin typeface="Courier New" panose="02070309020205020404" pitchFamily="49" charset="0"/>
              </a:rPr>
              <a:t>'High'</a:t>
            </a:r>
            <a:r>
              <a:rPr lang="en-IN" sz="1400" b="0" dirty="0">
                <a:solidFill>
                  <a:srgbClr val="DCDCDC"/>
                </a:solidFill>
                <a:effectLst/>
                <a:latin typeface="Courier New" panose="02070309020205020404" pitchFamily="49" charset="0"/>
              </a:rPr>
              <a:t>])</a:t>
            </a:r>
            <a:endParaRPr lang="en-IN" sz="1400" b="0" dirty="0">
              <a:solidFill>
                <a:srgbClr val="D4D4D4"/>
              </a:solidFill>
              <a:effectLst/>
              <a:latin typeface="Courier New" panose="02070309020205020404" pitchFamily="49" charset="0"/>
            </a:endParaRPr>
          </a:p>
          <a:p>
            <a:r>
              <a:rPr lang="en-IN" sz="1400" b="0" dirty="0">
                <a:solidFill>
                  <a:srgbClr val="D4D4D4"/>
                </a:solidFill>
                <a:effectLst/>
                <a:latin typeface="Courier New" panose="02070309020205020404" pitchFamily="49" charset="0"/>
              </a:rPr>
              <a:t>df2</a:t>
            </a:r>
            <a:r>
              <a:rPr lang="en-IN" sz="1400" b="0" dirty="0">
                <a:solidFill>
                  <a:srgbClr val="DCDCDC"/>
                </a:solidFill>
                <a:effectLst/>
                <a:latin typeface="Courier New" panose="02070309020205020404" pitchFamily="49" charset="0"/>
              </a:rPr>
              <a:t>[</a:t>
            </a:r>
            <a:r>
              <a:rPr lang="en-IN" sz="1400" b="0" dirty="0">
                <a:solidFill>
                  <a:srgbClr val="CE9178"/>
                </a:solidFill>
                <a:effectLst/>
                <a:latin typeface="Courier New" panose="02070309020205020404" pitchFamily="49" charset="0"/>
              </a:rPr>
              <a:t>'</a:t>
            </a:r>
            <a:r>
              <a:rPr lang="en-IN" sz="1400" b="0" dirty="0" err="1">
                <a:solidFill>
                  <a:srgbClr val="CE9178"/>
                </a:solidFill>
                <a:effectLst/>
                <a:latin typeface="Courier New" panose="02070309020205020404" pitchFamily="49" charset="0"/>
              </a:rPr>
              <a:t>LogLow</a:t>
            </a:r>
            <a:r>
              <a:rPr lang="en-IN" sz="1400" b="0" dirty="0">
                <a:solidFill>
                  <a:srgbClr val="CE9178"/>
                </a:solidFill>
                <a:effectLst/>
                <a:latin typeface="Courier New" panose="02070309020205020404" pitchFamily="49" charset="0"/>
              </a:rPr>
              <a:t>'</a:t>
            </a:r>
            <a:r>
              <a:rPr lang="en-IN" sz="1400" b="0" dirty="0">
                <a:solidFill>
                  <a:srgbClr val="DCDCDC"/>
                </a:solidFill>
                <a:effectLst/>
                <a:latin typeface="Courier New" panose="02070309020205020404" pitchFamily="49" charset="0"/>
              </a:rPr>
              <a:t>]</a:t>
            </a:r>
            <a:r>
              <a:rPr lang="en-IN" sz="1400" b="0" dirty="0">
                <a:solidFill>
                  <a:srgbClr val="D4D4D4"/>
                </a:solidFill>
                <a:effectLst/>
                <a:latin typeface="Courier New" panose="02070309020205020404" pitchFamily="49" charset="0"/>
              </a:rPr>
              <a:t> = np.log</a:t>
            </a:r>
            <a:r>
              <a:rPr lang="en-IN" sz="1400" b="0" dirty="0">
                <a:solidFill>
                  <a:srgbClr val="DCDCDC"/>
                </a:solidFill>
                <a:effectLst/>
                <a:latin typeface="Courier New" panose="02070309020205020404" pitchFamily="49" charset="0"/>
              </a:rPr>
              <a:t>(</a:t>
            </a:r>
            <a:r>
              <a:rPr lang="en-IN" sz="1400" b="0" dirty="0">
                <a:solidFill>
                  <a:srgbClr val="D4D4D4"/>
                </a:solidFill>
                <a:effectLst/>
                <a:latin typeface="Courier New" panose="02070309020205020404" pitchFamily="49" charset="0"/>
              </a:rPr>
              <a:t>df2</a:t>
            </a:r>
            <a:r>
              <a:rPr lang="en-IN" sz="1400" b="0" dirty="0">
                <a:solidFill>
                  <a:srgbClr val="DCDCDC"/>
                </a:solidFill>
                <a:effectLst/>
                <a:latin typeface="Courier New" panose="02070309020205020404" pitchFamily="49" charset="0"/>
              </a:rPr>
              <a:t>[</a:t>
            </a:r>
            <a:r>
              <a:rPr lang="en-IN" sz="1400" b="0" dirty="0">
                <a:solidFill>
                  <a:srgbClr val="CE9178"/>
                </a:solidFill>
                <a:effectLst/>
                <a:latin typeface="Courier New" panose="02070309020205020404" pitchFamily="49" charset="0"/>
              </a:rPr>
              <a:t>'Low'</a:t>
            </a:r>
            <a:r>
              <a:rPr lang="en-IN" sz="1400" b="0" dirty="0">
                <a:solidFill>
                  <a:srgbClr val="DCDCDC"/>
                </a:solidFill>
                <a:effectLst/>
                <a:latin typeface="Courier New" panose="02070309020205020404" pitchFamily="49" charset="0"/>
              </a:rPr>
              <a:t>])</a:t>
            </a:r>
            <a:endParaRPr lang="en-IN" sz="1400" b="0" dirty="0">
              <a:solidFill>
                <a:srgbClr val="D4D4D4"/>
              </a:solidFill>
              <a:effectLst/>
              <a:latin typeface="Courier New" panose="02070309020205020404" pitchFamily="49" charset="0"/>
            </a:endParaRPr>
          </a:p>
          <a:p>
            <a:br>
              <a:rPr lang="en-IN" sz="1400" b="0" dirty="0">
                <a:solidFill>
                  <a:srgbClr val="D4D4D4"/>
                </a:solidFill>
                <a:effectLst/>
                <a:latin typeface="Courier New" panose="02070309020205020404" pitchFamily="49" charset="0"/>
              </a:rPr>
            </a:br>
            <a:r>
              <a:rPr lang="en-IN" sz="1400" b="0" dirty="0">
                <a:solidFill>
                  <a:srgbClr val="82B76C"/>
                </a:solidFill>
                <a:effectLst/>
                <a:latin typeface="Courier New" panose="02070309020205020404" pitchFamily="49" charset="0"/>
              </a:rPr>
              <a:t># Log-transform target (Close/Last)</a:t>
            </a:r>
            <a:endParaRPr lang="en-IN" sz="1400" b="0" dirty="0">
              <a:solidFill>
                <a:srgbClr val="D4D4D4"/>
              </a:solidFill>
              <a:effectLst/>
              <a:latin typeface="Courier New" panose="02070309020205020404" pitchFamily="49" charset="0"/>
            </a:endParaRPr>
          </a:p>
          <a:p>
            <a:r>
              <a:rPr lang="en-IN" sz="1400" b="0" dirty="0">
                <a:solidFill>
                  <a:srgbClr val="D4D4D4"/>
                </a:solidFill>
                <a:effectLst/>
                <a:latin typeface="Courier New" panose="02070309020205020404" pitchFamily="49" charset="0"/>
              </a:rPr>
              <a:t>df2</a:t>
            </a:r>
            <a:r>
              <a:rPr lang="en-IN" sz="1400" b="0" dirty="0">
                <a:solidFill>
                  <a:srgbClr val="DCDCDC"/>
                </a:solidFill>
                <a:effectLst/>
                <a:latin typeface="Courier New" panose="02070309020205020404" pitchFamily="49" charset="0"/>
              </a:rPr>
              <a:t>[</a:t>
            </a:r>
            <a:r>
              <a:rPr lang="en-IN" sz="1400" b="0" dirty="0">
                <a:solidFill>
                  <a:srgbClr val="CE9178"/>
                </a:solidFill>
                <a:effectLst/>
                <a:latin typeface="Courier New" panose="02070309020205020404" pitchFamily="49" charset="0"/>
              </a:rPr>
              <a:t>'</a:t>
            </a:r>
            <a:r>
              <a:rPr lang="en-IN" sz="1400" b="0" dirty="0" err="1">
                <a:solidFill>
                  <a:srgbClr val="CE9178"/>
                </a:solidFill>
                <a:effectLst/>
                <a:latin typeface="Courier New" panose="02070309020205020404" pitchFamily="49" charset="0"/>
              </a:rPr>
              <a:t>LogClose</a:t>
            </a:r>
            <a:r>
              <a:rPr lang="en-IN" sz="1400" b="0" dirty="0">
                <a:solidFill>
                  <a:srgbClr val="CE9178"/>
                </a:solidFill>
                <a:effectLst/>
                <a:latin typeface="Courier New" panose="02070309020205020404" pitchFamily="49" charset="0"/>
              </a:rPr>
              <a:t>'</a:t>
            </a:r>
            <a:r>
              <a:rPr lang="en-IN" sz="1400" b="0" dirty="0">
                <a:solidFill>
                  <a:srgbClr val="DCDCDC"/>
                </a:solidFill>
                <a:effectLst/>
                <a:latin typeface="Courier New" panose="02070309020205020404" pitchFamily="49" charset="0"/>
              </a:rPr>
              <a:t>]</a:t>
            </a:r>
            <a:r>
              <a:rPr lang="en-IN" sz="1400" b="0" dirty="0">
                <a:solidFill>
                  <a:srgbClr val="D4D4D4"/>
                </a:solidFill>
                <a:effectLst/>
                <a:latin typeface="Courier New" panose="02070309020205020404" pitchFamily="49" charset="0"/>
              </a:rPr>
              <a:t> = np.log</a:t>
            </a:r>
            <a:r>
              <a:rPr lang="en-IN" sz="1400" b="0" dirty="0">
                <a:solidFill>
                  <a:srgbClr val="DCDCDC"/>
                </a:solidFill>
                <a:effectLst/>
                <a:latin typeface="Courier New" panose="02070309020205020404" pitchFamily="49" charset="0"/>
              </a:rPr>
              <a:t>(</a:t>
            </a:r>
            <a:r>
              <a:rPr lang="en-IN" sz="1400" b="0" dirty="0">
                <a:solidFill>
                  <a:srgbClr val="D4D4D4"/>
                </a:solidFill>
                <a:effectLst/>
                <a:latin typeface="Courier New" panose="02070309020205020404" pitchFamily="49" charset="0"/>
              </a:rPr>
              <a:t>df2</a:t>
            </a:r>
            <a:r>
              <a:rPr lang="en-IN" sz="1400" b="0" dirty="0">
                <a:solidFill>
                  <a:srgbClr val="DCDCDC"/>
                </a:solidFill>
                <a:effectLst/>
                <a:latin typeface="Courier New" panose="02070309020205020404" pitchFamily="49" charset="0"/>
              </a:rPr>
              <a:t>[</a:t>
            </a:r>
            <a:r>
              <a:rPr lang="en-IN" sz="1400" b="0" dirty="0">
                <a:solidFill>
                  <a:srgbClr val="CE9178"/>
                </a:solidFill>
                <a:effectLst/>
                <a:latin typeface="Courier New" panose="02070309020205020404" pitchFamily="49" charset="0"/>
              </a:rPr>
              <a:t>'Close/Last'</a:t>
            </a:r>
            <a:r>
              <a:rPr lang="en-IN" sz="1400" b="0" dirty="0">
                <a:solidFill>
                  <a:srgbClr val="DCDCDC"/>
                </a:solidFill>
                <a:effectLst/>
                <a:latin typeface="Courier New" panose="02070309020205020404" pitchFamily="49" charset="0"/>
              </a:rPr>
              <a:t>])</a:t>
            </a:r>
            <a:endParaRPr lang="en-IN" sz="1400" b="0" dirty="0">
              <a:solidFill>
                <a:srgbClr val="D4D4D4"/>
              </a:solidFill>
              <a:effectLst/>
              <a:latin typeface="Courier New" panose="02070309020205020404" pitchFamily="49" charset="0"/>
            </a:endParaRPr>
          </a:p>
          <a:p>
            <a:br>
              <a:rPr lang="en-IN" sz="1400" b="0" dirty="0">
                <a:solidFill>
                  <a:srgbClr val="D4D4D4"/>
                </a:solidFill>
                <a:effectLst/>
                <a:latin typeface="Courier New" panose="02070309020205020404" pitchFamily="49" charset="0"/>
              </a:rPr>
            </a:br>
            <a:r>
              <a:rPr lang="en-IN" sz="1400" b="0" dirty="0">
                <a:solidFill>
                  <a:srgbClr val="82B76C"/>
                </a:solidFill>
                <a:effectLst/>
                <a:latin typeface="Courier New" panose="02070309020205020404" pitchFamily="49" charset="0"/>
              </a:rPr>
              <a:t># --- Exponential Model with transformed features ---</a:t>
            </a:r>
            <a:endParaRPr lang="en-IN" sz="1400" b="0" dirty="0">
              <a:solidFill>
                <a:srgbClr val="D4D4D4"/>
              </a:solidFill>
              <a:effectLst/>
              <a:latin typeface="Courier New" panose="02070309020205020404" pitchFamily="49" charset="0"/>
            </a:endParaRPr>
          </a:p>
          <a:p>
            <a:r>
              <a:rPr lang="en-IN" sz="1400" b="0" dirty="0" err="1">
                <a:solidFill>
                  <a:srgbClr val="D4D4D4"/>
                </a:solidFill>
                <a:effectLst/>
                <a:latin typeface="Courier New" panose="02070309020205020404" pitchFamily="49" charset="0"/>
              </a:rPr>
              <a:t>model_exp_trans</a:t>
            </a:r>
            <a:r>
              <a:rPr lang="en-IN" sz="1400" b="0" dirty="0">
                <a:solidFill>
                  <a:srgbClr val="D4D4D4"/>
                </a:solidFill>
                <a:effectLst/>
                <a:latin typeface="Courier New" panose="02070309020205020404" pitchFamily="49" charset="0"/>
              </a:rPr>
              <a:t> = </a:t>
            </a:r>
            <a:r>
              <a:rPr lang="en-IN" sz="1400" b="0" dirty="0" err="1">
                <a:solidFill>
                  <a:srgbClr val="D4D4D4"/>
                </a:solidFill>
                <a:effectLst/>
                <a:latin typeface="Courier New" panose="02070309020205020404" pitchFamily="49" charset="0"/>
              </a:rPr>
              <a:t>smf.ols</a:t>
            </a:r>
            <a:r>
              <a:rPr lang="en-IN" sz="1400" b="0" dirty="0">
                <a:solidFill>
                  <a:srgbClr val="DCDCDC"/>
                </a:solidFill>
                <a:effectLst/>
                <a:latin typeface="Courier New" panose="02070309020205020404" pitchFamily="49" charset="0"/>
              </a:rPr>
              <a:t>(</a:t>
            </a:r>
            <a:r>
              <a:rPr lang="en-IN" sz="1400" b="0" dirty="0">
                <a:solidFill>
                  <a:srgbClr val="CE9178"/>
                </a:solidFill>
                <a:effectLst/>
                <a:latin typeface="Courier New" panose="02070309020205020404" pitchFamily="49" charset="0"/>
              </a:rPr>
              <a:t>'</a:t>
            </a:r>
            <a:r>
              <a:rPr lang="en-IN" sz="1400" b="0" dirty="0" err="1">
                <a:solidFill>
                  <a:srgbClr val="CE9178"/>
                </a:solidFill>
                <a:effectLst/>
                <a:latin typeface="Courier New" panose="02070309020205020404" pitchFamily="49" charset="0"/>
              </a:rPr>
              <a:t>LogClose</a:t>
            </a:r>
            <a:r>
              <a:rPr lang="en-IN" sz="1400" b="0" dirty="0">
                <a:solidFill>
                  <a:srgbClr val="CE9178"/>
                </a:solidFill>
                <a:effectLst/>
                <a:latin typeface="Courier New" panose="02070309020205020404" pitchFamily="49" charset="0"/>
              </a:rPr>
              <a:t> ~ </a:t>
            </a:r>
            <a:r>
              <a:rPr lang="en-IN" sz="1400" b="0" dirty="0" err="1">
                <a:solidFill>
                  <a:srgbClr val="CE9178"/>
                </a:solidFill>
                <a:effectLst/>
                <a:latin typeface="Courier New" panose="02070309020205020404" pitchFamily="49" charset="0"/>
              </a:rPr>
              <a:t>LogHigh</a:t>
            </a:r>
            <a:r>
              <a:rPr lang="en-IN" sz="1400" b="0" dirty="0">
                <a:solidFill>
                  <a:srgbClr val="CE9178"/>
                </a:solidFill>
                <a:effectLst/>
                <a:latin typeface="Courier New" panose="02070309020205020404" pitchFamily="49" charset="0"/>
              </a:rPr>
              <a:t> + </a:t>
            </a:r>
            <a:r>
              <a:rPr lang="en-IN" sz="1400" b="0" dirty="0" err="1">
                <a:solidFill>
                  <a:srgbClr val="CE9178"/>
                </a:solidFill>
                <a:effectLst/>
                <a:latin typeface="Courier New" panose="02070309020205020404" pitchFamily="49" charset="0"/>
              </a:rPr>
              <a:t>LogLow</a:t>
            </a:r>
            <a:r>
              <a:rPr lang="en-IN" sz="1400" b="0" dirty="0">
                <a:solidFill>
                  <a:srgbClr val="CE9178"/>
                </a:solidFill>
                <a:effectLst/>
                <a:latin typeface="Courier New" panose="02070309020205020404" pitchFamily="49" charset="0"/>
              </a:rPr>
              <a:t>'</a:t>
            </a:r>
            <a:r>
              <a:rPr lang="en-IN" sz="1400" b="0" dirty="0">
                <a:solidFill>
                  <a:srgbClr val="DCDCDC"/>
                </a:solidFill>
                <a:effectLst/>
                <a:latin typeface="Courier New" panose="02070309020205020404" pitchFamily="49" charset="0"/>
              </a:rPr>
              <a:t>,</a:t>
            </a:r>
            <a:r>
              <a:rPr lang="en-IN" sz="1400" b="0" dirty="0">
                <a:solidFill>
                  <a:srgbClr val="D4D4D4"/>
                </a:solidFill>
                <a:effectLst/>
                <a:latin typeface="Courier New" panose="02070309020205020404" pitchFamily="49" charset="0"/>
              </a:rPr>
              <a:t> data=df2</a:t>
            </a:r>
            <a:r>
              <a:rPr lang="en-IN" sz="1400" b="0" dirty="0">
                <a:solidFill>
                  <a:srgbClr val="DCDCDC"/>
                </a:solidFill>
                <a:effectLst/>
                <a:latin typeface="Courier New" panose="02070309020205020404" pitchFamily="49" charset="0"/>
              </a:rPr>
              <a:t>)</a:t>
            </a:r>
            <a:r>
              <a:rPr lang="en-IN" sz="1400" b="0" dirty="0">
                <a:solidFill>
                  <a:srgbClr val="D4D4D4"/>
                </a:solidFill>
                <a:effectLst/>
                <a:latin typeface="Courier New" panose="02070309020205020404" pitchFamily="49" charset="0"/>
              </a:rPr>
              <a:t>.fit</a:t>
            </a:r>
            <a:r>
              <a:rPr lang="en-IN" sz="1400" b="0" dirty="0">
                <a:solidFill>
                  <a:srgbClr val="DCDCDC"/>
                </a:solidFill>
                <a:effectLst/>
                <a:latin typeface="Courier New" panose="02070309020205020404" pitchFamily="49" charset="0"/>
              </a:rPr>
              <a:t>()</a:t>
            </a:r>
            <a:endParaRPr lang="en-IN" sz="1400" b="0" dirty="0">
              <a:solidFill>
                <a:srgbClr val="D4D4D4"/>
              </a:solidFill>
              <a:effectLst/>
              <a:latin typeface="Courier New" panose="02070309020205020404" pitchFamily="49" charset="0"/>
            </a:endParaRPr>
          </a:p>
          <a:p>
            <a:br>
              <a:rPr lang="en-IN" sz="1400" b="0" dirty="0">
                <a:solidFill>
                  <a:srgbClr val="D4D4D4"/>
                </a:solidFill>
                <a:effectLst/>
                <a:latin typeface="Courier New" panose="02070309020205020404" pitchFamily="49" charset="0"/>
              </a:rPr>
            </a:br>
            <a:r>
              <a:rPr lang="en-IN" sz="1400" b="0" dirty="0">
                <a:solidFill>
                  <a:srgbClr val="82B76C"/>
                </a:solidFill>
                <a:effectLst/>
                <a:latin typeface="Courier New" panose="02070309020205020404" pitchFamily="49" charset="0"/>
              </a:rPr>
              <a:t># Predict on original scale</a:t>
            </a:r>
            <a:endParaRPr lang="en-IN" sz="1400" b="0" dirty="0">
              <a:solidFill>
                <a:srgbClr val="D4D4D4"/>
              </a:solidFill>
              <a:effectLst/>
              <a:latin typeface="Courier New" panose="02070309020205020404" pitchFamily="49" charset="0"/>
            </a:endParaRPr>
          </a:p>
          <a:p>
            <a:r>
              <a:rPr lang="en-IN" sz="1400" b="0" dirty="0" err="1">
                <a:solidFill>
                  <a:srgbClr val="D4D4D4"/>
                </a:solidFill>
                <a:effectLst/>
                <a:latin typeface="Courier New" panose="02070309020205020404" pitchFamily="49" charset="0"/>
              </a:rPr>
              <a:t>pred_exp_trans</a:t>
            </a:r>
            <a:r>
              <a:rPr lang="en-IN" sz="1400" b="0" dirty="0">
                <a:solidFill>
                  <a:srgbClr val="D4D4D4"/>
                </a:solidFill>
                <a:effectLst/>
                <a:latin typeface="Courier New" panose="02070309020205020404" pitchFamily="49" charset="0"/>
              </a:rPr>
              <a:t> = </a:t>
            </a:r>
            <a:r>
              <a:rPr lang="en-IN" sz="1400" b="0" dirty="0" err="1">
                <a:solidFill>
                  <a:srgbClr val="D4D4D4"/>
                </a:solidFill>
                <a:effectLst/>
                <a:latin typeface="Courier New" panose="02070309020205020404" pitchFamily="49" charset="0"/>
              </a:rPr>
              <a:t>np.exp</a:t>
            </a:r>
            <a:r>
              <a:rPr lang="en-IN" sz="1400" b="0" dirty="0">
                <a:solidFill>
                  <a:srgbClr val="DCDCDC"/>
                </a:solidFill>
                <a:effectLst/>
                <a:latin typeface="Courier New" panose="02070309020205020404" pitchFamily="49" charset="0"/>
              </a:rPr>
              <a:t>(</a:t>
            </a:r>
            <a:r>
              <a:rPr lang="en-IN" sz="1400" b="0" dirty="0" err="1">
                <a:solidFill>
                  <a:srgbClr val="D4D4D4"/>
                </a:solidFill>
                <a:effectLst/>
                <a:latin typeface="Courier New" panose="02070309020205020404" pitchFamily="49" charset="0"/>
              </a:rPr>
              <a:t>model_exp_trans.predict</a:t>
            </a:r>
            <a:r>
              <a:rPr lang="en-IN" sz="1400" b="0" dirty="0">
                <a:solidFill>
                  <a:srgbClr val="DCDCDC"/>
                </a:solidFill>
                <a:effectLst/>
                <a:latin typeface="Courier New" panose="02070309020205020404" pitchFamily="49" charset="0"/>
              </a:rPr>
              <a:t>(</a:t>
            </a:r>
            <a:r>
              <a:rPr lang="en-IN" sz="1400" b="0" dirty="0">
                <a:solidFill>
                  <a:srgbClr val="D4D4D4"/>
                </a:solidFill>
                <a:effectLst/>
                <a:latin typeface="Courier New" panose="02070309020205020404" pitchFamily="49" charset="0"/>
              </a:rPr>
              <a:t>df2</a:t>
            </a:r>
            <a:r>
              <a:rPr lang="en-IN" sz="1400" b="0" dirty="0">
                <a:solidFill>
                  <a:srgbClr val="DCDCDC"/>
                </a:solidFill>
                <a:effectLst/>
                <a:latin typeface="Courier New" panose="02070309020205020404" pitchFamily="49" charset="0"/>
              </a:rPr>
              <a:t>))</a:t>
            </a:r>
            <a:endParaRPr lang="en-IN" sz="1400" b="0" dirty="0">
              <a:solidFill>
                <a:srgbClr val="D4D4D4"/>
              </a:solidFill>
              <a:effectLst/>
              <a:latin typeface="Courier New" panose="02070309020205020404" pitchFamily="49" charset="0"/>
            </a:endParaRPr>
          </a:p>
          <a:p>
            <a:br>
              <a:rPr lang="en-IN" sz="1400" b="0" dirty="0">
                <a:solidFill>
                  <a:srgbClr val="D4D4D4"/>
                </a:solidFill>
                <a:effectLst/>
                <a:latin typeface="Courier New" panose="02070309020205020404" pitchFamily="49" charset="0"/>
              </a:rPr>
            </a:br>
            <a:r>
              <a:rPr lang="en-IN" sz="1400" b="0" dirty="0">
                <a:solidFill>
                  <a:srgbClr val="82B76C"/>
                </a:solidFill>
                <a:effectLst/>
                <a:latin typeface="Courier New" panose="02070309020205020404" pitchFamily="49" charset="0"/>
              </a:rPr>
              <a:t># Calculate RMSE</a:t>
            </a:r>
            <a:endParaRPr lang="en-IN" sz="1400" b="0" dirty="0">
              <a:solidFill>
                <a:srgbClr val="D4D4D4"/>
              </a:solidFill>
              <a:effectLst/>
              <a:latin typeface="Courier New" panose="02070309020205020404" pitchFamily="49" charset="0"/>
            </a:endParaRPr>
          </a:p>
          <a:p>
            <a:r>
              <a:rPr lang="en-IN" sz="1400" b="0" dirty="0" err="1">
                <a:solidFill>
                  <a:srgbClr val="D4D4D4"/>
                </a:solidFill>
                <a:effectLst/>
                <a:latin typeface="Courier New" panose="02070309020205020404" pitchFamily="49" charset="0"/>
              </a:rPr>
              <a:t>rmse_exp_trans</a:t>
            </a:r>
            <a:r>
              <a:rPr lang="en-IN" sz="1400" b="0" dirty="0">
                <a:solidFill>
                  <a:srgbClr val="D4D4D4"/>
                </a:solidFill>
                <a:effectLst/>
                <a:latin typeface="Courier New" panose="02070309020205020404" pitchFamily="49" charset="0"/>
              </a:rPr>
              <a:t> = </a:t>
            </a:r>
            <a:r>
              <a:rPr lang="en-IN" sz="1400" b="0" dirty="0" err="1">
                <a:solidFill>
                  <a:srgbClr val="D4D4D4"/>
                </a:solidFill>
                <a:effectLst/>
                <a:latin typeface="Courier New" panose="02070309020205020404" pitchFamily="49" charset="0"/>
              </a:rPr>
              <a:t>np.sqrt</a:t>
            </a:r>
            <a:r>
              <a:rPr lang="en-IN" sz="1400" b="0" dirty="0">
                <a:solidFill>
                  <a:srgbClr val="DCDCDC"/>
                </a:solidFill>
                <a:effectLst/>
                <a:latin typeface="Courier New" panose="02070309020205020404" pitchFamily="49" charset="0"/>
              </a:rPr>
              <a:t>(</a:t>
            </a:r>
            <a:r>
              <a:rPr lang="en-IN" sz="1400" b="0" dirty="0" err="1">
                <a:solidFill>
                  <a:srgbClr val="D4D4D4"/>
                </a:solidFill>
                <a:effectLst/>
                <a:latin typeface="Courier New" panose="02070309020205020404" pitchFamily="49" charset="0"/>
              </a:rPr>
              <a:t>mean_squared_error</a:t>
            </a:r>
            <a:r>
              <a:rPr lang="en-IN" sz="1400" b="0" dirty="0">
                <a:solidFill>
                  <a:srgbClr val="DCDCDC"/>
                </a:solidFill>
                <a:effectLst/>
                <a:latin typeface="Courier New" panose="02070309020205020404" pitchFamily="49" charset="0"/>
              </a:rPr>
              <a:t>(</a:t>
            </a:r>
            <a:r>
              <a:rPr lang="en-IN" sz="1400" b="0" dirty="0">
                <a:solidFill>
                  <a:srgbClr val="D4D4D4"/>
                </a:solidFill>
                <a:effectLst/>
                <a:latin typeface="Courier New" panose="02070309020205020404" pitchFamily="49" charset="0"/>
              </a:rPr>
              <a:t>df2</a:t>
            </a:r>
            <a:r>
              <a:rPr lang="en-IN" sz="1400" b="0" dirty="0">
                <a:solidFill>
                  <a:srgbClr val="DCDCDC"/>
                </a:solidFill>
                <a:effectLst/>
                <a:latin typeface="Courier New" panose="02070309020205020404" pitchFamily="49" charset="0"/>
              </a:rPr>
              <a:t>[</a:t>
            </a:r>
            <a:r>
              <a:rPr lang="en-IN" sz="1400" b="0" dirty="0">
                <a:solidFill>
                  <a:srgbClr val="CE9178"/>
                </a:solidFill>
                <a:effectLst/>
                <a:latin typeface="Courier New" panose="02070309020205020404" pitchFamily="49" charset="0"/>
              </a:rPr>
              <a:t>'Close/Last'</a:t>
            </a:r>
            <a:r>
              <a:rPr lang="en-IN" sz="1400" b="0" dirty="0">
                <a:solidFill>
                  <a:srgbClr val="DCDCDC"/>
                </a:solidFill>
                <a:effectLst/>
                <a:latin typeface="Courier New" panose="02070309020205020404" pitchFamily="49" charset="0"/>
              </a:rPr>
              <a:t>],</a:t>
            </a:r>
            <a:r>
              <a:rPr lang="en-IN" sz="1400" b="0" dirty="0">
                <a:solidFill>
                  <a:srgbClr val="D4D4D4"/>
                </a:solidFill>
                <a:effectLst/>
                <a:latin typeface="Courier New" panose="02070309020205020404" pitchFamily="49" charset="0"/>
              </a:rPr>
              <a:t> </a:t>
            </a:r>
            <a:r>
              <a:rPr lang="en-IN" sz="1400" b="0" dirty="0" err="1">
                <a:solidFill>
                  <a:srgbClr val="D4D4D4"/>
                </a:solidFill>
                <a:effectLst/>
                <a:latin typeface="Courier New" panose="02070309020205020404" pitchFamily="49" charset="0"/>
              </a:rPr>
              <a:t>pred_exp_trans</a:t>
            </a:r>
            <a:r>
              <a:rPr lang="en-IN" sz="1400" b="0" dirty="0">
                <a:solidFill>
                  <a:srgbClr val="DCDCDC"/>
                </a:solidFill>
                <a:effectLst/>
                <a:latin typeface="Courier New" panose="02070309020205020404" pitchFamily="49" charset="0"/>
              </a:rPr>
              <a:t>))</a:t>
            </a:r>
            <a:endParaRPr lang="en-IN" sz="1400" b="0" dirty="0">
              <a:solidFill>
                <a:srgbClr val="D4D4D4"/>
              </a:solidFill>
              <a:effectLst/>
              <a:latin typeface="Courier New" panose="02070309020205020404" pitchFamily="49" charset="0"/>
            </a:endParaRPr>
          </a:p>
          <a:p>
            <a:br>
              <a:rPr lang="en-IN" sz="1400" b="0" dirty="0">
                <a:solidFill>
                  <a:srgbClr val="D4D4D4"/>
                </a:solidFill>
                <a:effectLst/>
                <a:latin typeface="Courier New" panose="02070309020205020404" pitchFamily="49" charset="0"/>
              </a:rPr>
            </a:br>
            <a:r>
              <a:rPr lang="en-IN" sz="1400" b="0" dirty="0">
                <a:solidFill>
                  <a:srgbClr val="82B76C"/>
                </a:solidFill>
                <a:effectLst/>
                <a:latin typeface="Courier New" panose="02070309020205020404" pitchFamily="49" charset="0"/>
              </a:rPr>
              <a:t># Output results</a:t>
            </a:r>
            <a:endParaRPr lang="en-IN" sz="1400" b="0" dirty="0">
              <a:solidFill>
                <a:srgbClr val="D4D4D4"/>
              </a:solidFill>
              <a:effectLst/>
              <a:latin typeface="Courier New" panose="02070309020205020404" pitchFamily="49" charset="0"/>
            </a:endParaRPr>
          </a:p>
          <a:p>
            <a:r>
              <a:rPr lang="en-IN" sz="1400" b="0" dirty="0">
                <a:solidFill>
                  <a:srgbClr val="DCDCAA"/>
                </a:solidFill>
                <a:effectLst/>
                <a:latin typeface="Courier New" panose="02070309020205020404" pitchFamily="49" charset="0"/>
              </a:rPr>
              <a:t>print</a:t>
            </a:r>
            <a:r>
              <a:rPr lang="en-IN" sz="1400" b="0" dirty="0">
                <a:solidFill>
                  <a:srgbClr val="DCDCDC"/>
                </a:solidFill>
                <a:effectLst/>
                <a:latin typeface="Courier New" panose="02070309020205020404" pitchFamily="49" charset="0"/>
              </a:rPr>
              <a:t>(</a:t>
            </a:r>
            <a:r>
              <a:rPr lang="en-IN" sz="1400" b="0" dirty="0">
                <a:solidFill>
                  <a:srgbClr val="CE9178"/>
                </a:solidFill>
                <a:effectLst/>
                <a:latin typeface="Courier New" panose="02070309020205020404" pitchFamily="49" charset="0"/>
              </a:rPr>
              <a:t>"RMSE (Log-transformed High + Low):"</a:t>
            </a:r>
            <a:r>
              <a:rPr lang="en-IN" sz="1400" b="0" dirty="0">
                <a:solidFill>
                  <a:srgbClr val="DCDCDC"/>
                </a:solidFill>
                <a:effectLst/>
                <a:latin typeface="Courier New" panose="02070309020205020404" pitchFamily="49" charset="0"/>
              </a:rPr>
              <a:t>,</a:t>
            </a:r>
            <a:r>
              <a:rPr lang="en-IN" sz="1400" b="0" dirty="0">
                <a:solidFill>
                  <a:srgbClr val="D4D4D4"/>
                </a:solidFill>
                <a:effectLst/>
                <a:latin typeface="Courier New" panose="02070309020205020404" pitchFamily="49" charset="0"/>
              </a:rPr>
              <a:t> </a:t>
            </a:r>
            <a:r>
              <a:rPr lang="en-IN" sz="1400" b="0" dirty="0" err="1">
                <a:solidFill>
                  <a:srgbClr val="D4D4D4"/>
                </a:solidFill>
                <a:effectLst/>
                <a:latin typeface="Courier New" panose="02070309020205020404" pitchFamily="49" charset="0"/>
              </a:rPr>
              <a:t>rmse_exp_trans</a:t>
            </a:r>
            <a:r>
              <a:rPr lang="en-IN" sz="1400" b="0" dirty="0">
                <a:solidFill>
                  <a:srgbClr val="DCDCDC"/>
                </a:solidFill>
                <a:effectLst/>
                <a:latin typeface="Courier New" panose="02070309020205020404" pitchFamily="49" charset="0"/>
              </a:rPr>
              <a:t>)</a:t>
            </a:r>
            <a:endParaRPr lang="en-IN" sz="1400" b="0" dirty="0">
              <a:solidFill>
                <a:srgbClr val="D4D4D4"/>
              </a:solidFill>
              <a:effectLst/>
              <a:latin typeface="Courier New" panose="02070309020205020404" pitchFamily="49" charset="0"/>
            </a:endParaRPr>
          </a:p>
          <a:p>
            <a:r>
              <a:rPr lang="en-IN" sz="1400" b="0" dirty="0">
                <a:solidFill>
                  <a:srgbClr val="DCDCAA"/>
                </a:solidFill>
                <a:effectLst/>
                <a:latin typeface="Courier New" panose="02070309020205020404" pitchFamily="49" charset="0"/>
              </a:rPr>
              <a:t>print</a:t>
            </a:r>
            <a:r>
              <a:rPr lang="en-IN" sz="1400" b="0" dirty="0">
                <a:solidFill>
                  <a:srgbClr val="DCDCDC"/>
                </a:solidFill>
                <a:effectLst/>
                <a:latin typeface="Courier New" panose="02070309020205020404" pitchFamily="49" charset="0"/>
              </a:rPr>
              <a:t>(</a:t>
            </a:r>
            <a:r>
              <a:rPr lang="en-IN" sz="1400" b="0" dirty="0" err="1">
                <a:solidFill>
                  <a:srgbClr val="D4D4D4"/>
                </a:solidFill>
                <a:effectLst/>
                <a:latin typeface="Courier New" panose="02070309020205020404" pitchFamily="49" charset="0"/>
              </a:rPr>
              <a:t>model_exp_trans.summary</a:t>
            </a:r>
            <a:r>
              <a:rPr lang="en-IN" sz="1400" b="0" dirty="0">
                <a:solidFill>
                  <a:srgbClr val="DCDCDC"/>
                </a:solidFill>
                <a:effectLst/>
                <a:latin typeface="Courier New" panose="02070309020205020404" pitchFamily="49" charset="0"/>
              </a:rPr>
              <a:t>())</a:t>
            </a:r>
            <a:endParaRPr lang="en-IN" sz="1400" b="0" dirty="0">
              <a:solidFill>
                <a:srgbClr val="D4D4D4"/>
              </a:solidFill>
              <a:effectLst/>
              <a:latin typeface="Courier New" panose="02070309020205020404" pitchFamily="49" charset="0"/>
            </a:endParaRPr>
          </a:p>
        </p:txBody>
      </p:sp>
      <p:sp>
        <p:nvSpPr>
          <p:cNvPr id="28" name="Object 1">
            <a:extLst>
              <a:ext uri="{FF2B5EF4-FFF2-40B4-BE49-F238E27FC236}">
                <a16:creationId xmlns:a16="http://schemas.microsoft.com/office/drawing/2014/main" id="{9EC6F846-45EA-6D4E-DC7A-19738B056BB2}"/>
              </a:ext>
            </a:extLst>
          </p:cNvPr>
          <p:cNvSpPr/>
          <p:nvPr/>
        </p:nvSpPr>
        <p:spPr>
          <a:xfrm>
            <a:off x="259531" y="2802984"/>
            <a:ext cx="5489417" cy="3987115"/>
          </a:xfrm>
          <a:prstGeom prst="rect">
            <a:avLst/>
          </a:prstGeom>
          <a:solidFill>
            <a:srgbClr val="62A8BB"/>
          </a:solidFill>
        </p:spPr>
      </p:sp>
      <p:pic>
        <p:nvPicPr>
          <p:cNvPr id="27" name="Picture 26">
            <a:extLst>
              <a:ext uri="{FF2B5EF4-FFF2-40B4-BE49-F238E27FC236}">
                <a16:creationId xmlns:a16="http://schemas.microsoft.com/office/drawing/2014/main" id="{52167859-DBFC-33A5-B0CB-26BDABF23275}"/>
              </a:ext>
            </a:extLst>
          </p:cNvPr>
          <p:cNvPicPr>
            <a:picLocks noChangeAspect="1"/>
          </p:cNvPicPr>
          <p:nvPr/>
        </p:nvPicPr>
        <p:blipFill>
          <a:blip r:embed="rId3"/>
          <a:stretch>
            <a:fillRect/>
          </a:stretch>
        </p:blipFill>
        <p:spPr>
          <a:xfrm>
            <a:off x="259532" y="2802982"/>
            <a:ext cx="5489418" cy="3987115"/>
          </a:xfrm>
          <a:prstGeom prst="rect">
            <a:avLst/>
          </a:prstGeom>
        </p:spPr>
      </p:pic>
    </p:spTree>
    <p:extLst>
      <p:ext uri="{BB962C8B-B14F-4D97-AF65-F5344CB8AC3E}">
        <p14:creationId xmlns:p14="http://schemas.microsoft.com/office/powerpoint/2010/main" val="139716266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6454357" y="2784762"/>
            <a:ext cx="5168877" cy="2952869"/>
          </a:xfrm>
          <a:prstGeom prst="rect">
            <a:avLst/>
          </a:prstGeom>
          <a:solidFill>
            <a:srgbClr val="62A8BB"/>
          </a:solidFill>
        </p:spPr>
      </p:sp>
      <p:sp>
        <p:nvSpPr>
          <p:cNvPr id="4" name="Object 3"/>
          <p:cNvSpPr/>
          <p:nvPr/>
        </p:nvSpPr>
        <p:spPr>
          <a:xfrm>
            <a:off x="5905452" y="481955"/>
            <a:ext cx="6023056" cy="509906"/>
          </a:xfrm>
          <a:prstGeom prst="rect">
            <a:avLst/>
          </a:prstGeom>
          <a:noFill/>
        </p:spPr>
        <p:txBody>
          <a:bodyPr wrap="square" lIns="0" tIns="0" rIns="0" bIns="0" rtlCol="0" anchor="ctr"/>
          <a:lstStyle/>
          <a:p>
            <a:pPr algn="ctr">
              <a:lnSpc>
                <a:spcPts val="4016"/>
              </a:lnSpc>
              <a:buNone/>
            </a:pPr>
            <a:r>
              <a:rPr lang="en-US" sz="3188" dirty="0">
                <a:solidFill>
                  <a:srgbClr val="2A2921"/>
                </a:solidFill>
                <a:latin typeface="Montserrat" pitchFamily="34" charset="0"/>
                <a:ea typeface="Montserrat" pitchFamily="34" charset="-122"/>
                <a:cs typeface="Montserrat" pitchFamily="34" charset="-120"/>
              </a:rPr>
              <a:t>Deployment in Streamlit</a:t>
            </a:r>
            <a:endParaRPr lang="en-US" dirty="0"/>
          </a:p>
        </p:txBody>
      </p:sp>
      <p:sp>
        <p:nvSpPr>
          <p:cNvPr id="5" name="Object 4"/>
          <p:cNvSpPr/>
          <p:nvPr/>
        </p:nvSpPr>
        <p:spPr>
          <a:xfrm>
            <a:off x="5905452" y="919113"/>
            <a:ext cx="6023056" cy="1535522"/>
          </a:xfrm>
          <a:prstGeom prst="rect">
            <a:avLst/>
          </a:prstGeom>
          <a:noFill/>
        </p:spPr>
        <p:txBody>
          <a:bodyPr wrap="square" lIns="0" tIns="0" rIns="0" bIns="0" rtlCol="0" anchor="ctr"/>
          <a:lstStyle/>
          <a:p>
            <a:pPr algn="ctr">
              <a:lnSpc>
                <a:spcPts val="2016"/>
              </a:lnSpc>
              <a:spcBef>
                <a:spcPts val="836"/>
              </a:spcBef>
              <a:buNone/>
            </a:pPr>
            <a:r>
              <a:rPr lang="en-US" sz="1440" dirty="0">
                <a:solidFill>
                  <a:srgbClr val="5A5A4C"/>
                </a:solidFill>
                <a:latin typeface="Montserrat" pitchFamily="34" charset="0"/>
                <a:ea typeface="Montserrat" pitchFamily="34" charset="-122"/>
                <a:cs typeface="Montserrat" pitchFamily="34" charset="-120"/>
              </a:rPr>
              <a:t>The Oil Price Prediction project has delivered a user-friendly Streamlit application that empowers users to interact with the forecasting models. This application enables users to input new data, visualize historical and predicted oil prices, and generate dynamic forecasts to support business decision-making.</a:t>
            </a:r>
            <a:endParaRPr lang="en-US" dirty="0"/>
          </a:p>
        </p:txBody>
      </p:sp>
      <p:sp>
        <p:nvSpPr>
          <p:cNvPr id="7" name="AutoShape 4">
            <a:extLst>
              <a:ext uri="{FF2B5EF4-FFF2-40B4-BE49-F238E27FC236}">
                <a16:creationId xmlns:a16="http://schemas.microsoft.com/office/drawing/2014/main" id="{75982124-955D-D688-988D-B93FEA48173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descr="A screenshot of a computer&#10;&#10;AI-generated content may be incorrect.">
            <a:extLst>
              <a:ext uri="{FF2B5EF4-FFF2-40B4-BE49-F238E27FC236}">
                <a16:creationId xmlns:a16="http://schemas.microsoft.com/office/drawing/2014/main" id="{8B00435A-4A04-3D2D-8149-089170891213}"/>
              </a:ext>
            </a:extLst>
          </p:cNvPr>
          <p:cNvPicPr>
            <a:picLocks noChangeAspect="1"/>
          </p:cNvPicPr>
          <p:nvPr/>
        </p:nvPicPr>
        <p:blipFill>
          <a:blip r:embed="rId3"/>
          <a:stretch>
            <a:fillRect/>
          </a:stretch>
        </p:blipFill>
        <p:spPr>
          <a:xfrm>
            <a:off x="6454358" y="2796079"/>
            <a:ext cx="5168876" cy="2952869"/>
          </a:xfrm>
          <a:prstGeom prst="rect">
            <a:avLst/>
          </a:prstGeom>
        </p:spPr>
      </p:pic>
      <p:pic>
        <p:nvPicPr>
          <p:cNvPr id="12" name="Picture 11">
            <a:extLst>
              <a:ext uri="{FF2B5EF4-FFF2-40B4-BE49-F238E27FC236}">
                <a16:creationId xmlns:a16="http://schemas.microsoft.com/office/drawing/2014/main" id="{47D1E966-9938-4E7C-EF98-F696016EECFE}"/>
              </a:ext>
            </a:extLst>
          </p:cNvPr>
          <p:cNvPicPr>
            <a:picLocks noChangeAspect="1"/>
          </p:cNvPicPr>
          <p:nvPr/>
        </p:nvPicPr>
        <p:blipFill>
          <a:blip r:embed="rId4"/>
          <a:stretch>
            <a:fillRect/>
          </a:stretch>
        </p:blipFill>
        <p:spPr>
          <a:xfrm>
            <a:off x="424470" y="1315768"/>
            <a:ext cx="5168639" cy="4442234"/>
          </a:xfrm>
          <a:prstGeom prst="rect">
            <a:avLst/>
          </a:prstGeom>
        </p:spPr>
      </p:pic>
      <p:pic>
        <p:nvPicPr>
          <p:cNvPr id="6152" name="Picture 8">
            <a:extLst>
              <a:ext uri="{FF2B5EF4-FFF2-40B4-BE49-F238E27FC236}">
                <a16:creationId xmlns:a16="http://schemas.microsoft.com/office/drawing/2014/main" id="{FDC60A47-9667-C344-F98F-2B0CEFA651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8956" y="1306714"/>
            <a:ext cx="5184153" cy="44422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a:effectLst/>
      </p:bgPr>
    </p:bg>
    <p:spTree>
      <p:nvGrpSpPr>
        <p:cNvPr id="1" name=""/>
        <p:cNvGrpSpPr/>
        <p:nvPr/>
      </p:nvGrpSpPr>
      <p:grpSpPr>
        <a:xfrm>
          <a:off x="0" y="0"/>
          <a:ext cx="0" cy="0"/>
          <a:chOff x="0" y="0"/>
          <a:chExt cx="0" cy="0"/>
        </a:xfrm>
      </p:grpSpPr>
      <p:sp>
        <p:nvSpPr>
          <p:cNvPr id="2" name="Object 1"/>
          <p:cNvSpPr/>
          <p:nvPr/>
        </p:nvSpPr>
        <p:spPr>
          <a:xfrm>
            <a:off x="0" y="362901"/>
            <a:ext cx="12188952" cy="509906"/>
          </a:xfrm>
          <a:prstGeom prst="rect">
            <a:avLst/>
          </a:prstGeom>
          <a:noFill/>
        </p:spPr>
        <p:txBody>
          <a:bodyPr wrap="square" lIns="0" tIns="0" rIns="0" bIns="0" rtlCol="0" anchor="t"/>
          <a:lstStyle/>
          <a:p>
            <a:pPr algn="ctr">
              <a:lnSpc>
                <a:spcPts val="4016"/>
              </a:lnSpc>
              <a:buNone/>
            </a:pPr>
            <a:r>
              <a:rPr lang="en-US" sz="3188" dirty="0">
                <a:solidFill>
                  <a:srgbClr val="FFFFFF"/>
                </a:solidFill>
                <a:latin typeface="Montserrat" pitchFamily="34" charset="0"/>
                <a:ea typeface="Montserrat" pitchFamily="34" charset="-122"/>
                <a:cs typeface="Montserrat" pitchFamily="34" charset="-120"/>
              </a:rPr>
              <a:t>Conclusion</a:t>
            </a:r>
            <a:endParaRPr lang="en-US" dirty="0"/>
          </a:p>
        </p:txBody>
      </p:sp>
      <p:pic>
        <p:nvPicPr>
          <p:cNvPr id="3" name="Object 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21794" y="2511888"/>
            <a:ext cx="904649" cy="914171"/>
          </a:xfrm>
          <a:prstGeom prst="rect">
            <a:avLst/>
          </a:prstGeom>
        </p:spPr>
      </p:pic>
      <p:sp>
        <p:nvSpPr>
          <p:cNvPr id="4" name="Object 3"/>
          <p:cNvSpPr/>
          <p:nvPr/>
        </p:nvSpPr>
        <p:spPr>
          <a:xfrm>
            <a:off x="812756" y="3730724"/>
            <a:ext cx="2754894" cy="230328"/>
          </a:xfrm>
          <a:prstGeom prst="rect">
            <a:avLst/>
          </a:prstGeom>
          <a:noFill/>
        </p:spPr>
        <p:txBody>
          <a:bodyPr wrap="square" lIns="0" tIns="0" rIns="0" bIns="0" rtlCol="0" anchor="t"/>
          <a:lstStyle/>
          <a:p>
            <a:pPr algn="ctr">
              <a:lnSpc>
                <a:spcPts val="1814"/>
              </a:lnSpc>
              <a:buNone/>
            </a:pPr>
            <a:r>
              <a:rPr lang="en-US" sz="1440" dirty="0">
                <a:solidFill>
                  <a:srgbClr val="FFFFFF"/>
                </a:solidFill>
                <a:latin typeface="Montserrat" pitchFamily="34" charset="0"/>
                <a:ea typeface="Montserrat" pitchFamily="34" charset="-122"/>
                <a:cs typeface="Montserrat" pitchFamily="34" charset="-120"/>
              </a:rPr>
              <a:t>Best model achieved</a:t>
            </a:r>
            <a:endParaRPr lang="en-US" dirty="0"/>
          </a:p>
        </p:txBody>
      </p:sp>
      <p:sp>
        <p:nvSpPr>
          <p:cNvPr id="5" name="Object 4"/>
          <p:cNvSpPr/>
          <p:nvPr/>
        </p:nvSpPr>
        <p:spPr>
          <a:xfrm>
            <a:off x="812756" y="4046905"/>
            <a:ext cx="2754894" cy="213217"/>
          </a:xfrm>
          <a:prstGeom prst="rect">
            <a:avLst/>
          </a:prstGeom>
          <a:noFill/>
        </p:spPr>
        <p:txBody>
          <a:bodyPr wrap="square" lIns="0" tIns="0" rIns="0" bIns="0" rtlCol="0" anchor="t"/>
          <a:lstStyle/>
          <a:p>
            <a:pPr algn="ctr">
              <a:lnSpc>
                <a:spcPts val="1680"/>
              </a:lnSpc>
              <a:spcBef>
                <a:spcPts val="663"/>
              </a:spcBef>
              <a:buNone/>
            </a:pPr>
            <a:r>
              <a:rPr lang="en-US" sz="1200" dirty="0">
                <a:solidFill>
                  <a:srgbClr val="FFFFFF">
                    <a:alpha val="90000"/>
                  </a:srgbClr>
                </a:solidFill>
                <a:latin typeface="Montserrat" pitchFamily="34" charset="0"/>
                <a:ea typeface="Montserrat" pitchFamily="34" charset="-122"/>
                <a:cs typeface="Montserrat" pitchFamily="34" charset="-120"/>
              </a:rPr>
              <a:t>RMSE ≈ 0.7850, R² ≈ 0.98</a:t>
            </a:r>
            <a:endParaRPr lang="en-US" dirty="0"/>
          </a:p>
        </p:txBody>
      </p:sp>
      <p:pic>
        <p:nvPicPr>
          <p:cNvPr id="6" name="Object 5"/>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15059" y="2601161"/>
            <a:ext cx="752287" cy="638015"/>
          </a:xfrm>
          <a:prstGeom prst="rect">
            <a:avLst/>
          </a:prstGeom>
        </p:spPr>
      </p:pic>
      <p:sp>
        <p:nvSpPr>
          <p:cNvPr id="7" name="Object 6"/>
          <p:cNvSpPr/>
          <p:nvPr/>
        </p:nvSpPr>
        <p:spPr>
          <a:xfrm>
            <a:off x="4397545" y="3730724"/>
            <a:ext cx="3393861" cy="460657"/>
          </a:xfrm>
          <a:prstGeom prst="rect">
            <a:avLst/>
          </a:prstGeom>
          <a:noFill/>
        </p:spPr>
        <p:txBody>
          <a:bodyPr wrap="square" lIns="0" tIns="0" rIns="0" bIns="0" rtlCol="0" anchor="t"/>
          <a:lstStyle/>
          <a:p>
            <a:pPr algn="ctr">
              <a:lnSpc>
                <a:spcPts val="1814"/>
              </a:lnSpc>
              <a:buNone/>
            </a:pPr>
            <a:r>
              <a:rPr lang="en-US" sz="1440" dirty="0">
                <a:solidFill>
                  <a:srgbClr val="FFFFFF"/>
                </a:solidFill>
                <a:latin typeface="Montserrat" pitchFamily="34" charset="0"/>
                <a:ea typeface="Montserrat" pitchFamily="34" charset="-122"/>
                <a:cs typeface="Montserrat" pitchFamily="34" charset="-120"/>
              </a:rPr>
              <a:t>Predictions track actual oil price trends</a:t>
            </a:r>
            <a:endParaRPr lang="en-US" dirty="0"/>
          </a:p>
        </p:txBody>
      </p:sp>
      <p:sp>
        <p:nvSpPr>
          <p:cNvPr id="8" name="Object 7"/>
          <p:cNvSpPr/>
          <p:nvPr/>
        </p:nvSpPr>
        <p:spPr>
          <a:xfrm>
            <a:off x="4397545" y="4277233"/>
            <a:ext cx="3393861" cy="213217"/>
          </a:xfrm>
          <a:prstGeom prst="rect">
            <a:avLst/>
          </a:prstGeom>
          <a:noFill/>
        </p:spPr>
        <p:txBody>
          <a:bodyPr wrap="square" lIns="0" tIns="0" rIns="0" bIns="0" rtlCol="0" anchor="t"/>
          <a:lstStyle/>
          <a:p>
            <a:pPr algn="ctr">
              <a:lnSpc>
                <a:spcPts val="1680"/>
              </a:lnSpc>
              <a:spcBef>
                <a:spcPts val="663"/>
              </a:spcBef>
              <a:buNone/>
            </a:pPr>
            <a:r>
              <a:rPr lang="en-US" sz="1200" dirty="0">
                <a:solidFill>
                  <a:srgbClr val="FFFFFF">
                    <a:alpha val="90000"/>
                  </a:srgbClr>
                </a:solidFill>
                <a:latin typeface="Montserrat" pitchFamily="34" charset="0"/>
                <a:ea typeface="Montserrat" pitchFamily="34" charset="-122"/>
                <a:cs typeface="Montserrat" pitchFamily="34" charset="-120"/>
              </a:rPr>
              <a:t>Accurately forecasting price movements</a:t>
            </a:r>
            <a:endParaRPr lang="en-US" dirty="0"/>
          </a:p>
        </p:txBody>
      </p:sp>
      <p:pic>
        <p:nvPicPr>
          <p:cNvPr id="9" name="Object 8"/>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08172" y="2567687"/>
            <a:ext cx="780855" cy="714196"/>
          </a:xfrm>
          <a:prstGeom prst="rect">
            <a:avLst/>
          </a:prstGeom>
        </p:spPr>
      </p:pic>
      <p:sp>
        <p:nvSpPr>
          <p:cNvPr id="10" name="Object 9"/>
          <p:cNvSpPr/>
          <p:nvPr/>
        </p:nvSpPr>
        <p:spPr>
          <a:xfrm>
            <a:off x="8479892" y="3730724"/>
            <a:ext cx="3037715" cy="230328"/>
          </a:xfrm>
          <a:prstGeom prst="rect">
            <a:avLst/>
          </a:prstGeom>
          <a:noFill/>
        </p:spPr>
        <p:txBody>
          <a:bodyPr wrap="square" lIns="0" tIns="0" rIns="0" bIns="0" rtlCol="0" anchor="t"/>
          <a:lstStyle/>
          <a:p>
            <a:pPr algn="ctr">
              <a:lnSpc>
                <a:spcPts val="1814"/>
              </a:lnSpc>
              <a:buNone/>
            </a:pPr>
            <a:r>
              <a:rPr lang="en-US" sz="1440" dirty="0">
                <a:solidFill>
                  <a:srgbClr val="FFFFFF"/>
                </a:solidFill>
                <a:latin typeface="Montserrat" pitchFamily="34" charset="0"/>
                <a:ea typeface="Montserrat" pitchFamily="34" charset="-122"/>
                <a:cs typeface="Montserrat" pitchFamily="34" charset="-120"/>
              </a:rPr>
              <a:t>Business applications</a:t>
            </a:r>
            <a:endParaRPr lang="en-US" dirty="0"/>
          </a:p>
        </p:txBody>
      </p:sp>
      <p:sp>
        <p:nvSpPr>
          <p:cNvPr id="11" name="Object 10"/>
          <p:cNvSpPr/>
          <p:nvPr/>
        </p:nvSpPr>
        <p:spPr>
          <a:xfrm>
            <a:off x="8479892" y="4046905"/>
            <a:ext cx="3037715" cy="213217"/>
          </a:xfrm>
          <a:prstGeom prst="rect">
            <a:avLst/>
          </a:prstGeom>
          <a:noFill/>
        </p:spPr>
        <p:txBody>
          <a:bodyPr wrap="square" lIns="0" tIns="0" rIns="0" bIns="0" rtlCol="0" anchor="t"/>
          <a:lstStyle/>
          <a:p>
            <a:pPr algn="ctr">
              <a:lnSpc>
                <a:spcPts val="1680"/>
              </a:lnSpc>
              <a:spcBef>
                <a:spcPts val="663"/>
              </a:spcBef>
              <a:buNone/>
            </a:pPr>
            <a:r>
              <a:rPr lang="en-US" sz="1200" dirty="0">
                <a:solidFill>
                  <a:srgbClr val="FFFFFF">
                    <a:alpha val="90000"/>
                  </a:srgbClr>
                </a:solidFill>
                <a:latin typeface="Montserrat" pitchFamily="34" charset="0"/>
                <a:ea typeface="Montserrat" pitchFamily="34" charset="-122"/>
                <a:cs typeface="Montserrat" pitchFamily="34" charset="-120"/>
              </a:rPr>
              <a:t>Hedging, trading, and policymaking</a:t>
            </a:r>
            <a:endParaRPr lang="en-US" dirty="0"/>
          </a:p>
        </p:txBody>
      </p:sp>
      <p:sp>
        <p:nvSpPr>
          <p:cNvPr id="12" name="Object 11"/>
          <p:cNvSpPr/>
          <p:nvPr/>
        </p:nvSpPr>
        <p:spPr>
          <a:xfrm>
            <a:off x="0" y="5713571"/>
            <a:ext cx="12188952" cy="1142714"/>
          </a:xfrm>
          <a:prstGeom prst="rect">
            <a:avLst/>
          </a:prstGeom>
          <a:solidFill>
            <a:srgbClr val="F0B356"/>
          </a:solidFill>
        </p:spPr>
      </p:sp>
      <p:sp>
        <p:nvSpPr>
          <p:cNvPr id="13" name="Object 12"/>
          <p:cNvSpPr/>
          <p:nvPr/>
        </p:nvSpPr>
        <p:spPr>
          <a:xfrm>
            <a:off x="1433154" y="5960862"/>
            <a:ext cx="9322644" cy="647687"/>
          </a:xfrm>
          <a:prstGeom prst="rect">
            <a:avLst/>
          </a:prstGeom>
          <a:noFill/>
        </p:spPr>
        <p:txBody>
          <a:bodyPr wrap="square" lIns="0" tIns="0" rIns="0" bIns="0" rtlCol="0" anchor="ctr"/>
          <a:lstStyle/>
          <a:p>
            <a:pPr algn="ctr">
              <a:lnSpc>
                <a:spcPts val="1701"/>
              </a:lnSpc>
              <a:buNone/>
            </a:pPr>
            <a:r>
              <a:rPr lang="en-US" sz="1350" dirty="0">
                <a:solidFill>
                  <a:srgbClr val="2A2921"/>
                </a:solidFill>
                <a:latin typeface="Montserrat" pitchFamily="34" charset="0"/>
                <a:ea typeface="Montserrat" pitchFamily="34" charset="-122"/>
                <a:cs typeface="Montserrat" pitchFamily="34" charset="-120"/>
              </a:rPr>
              <a:t>The Oil Price Prediction project has delivered promising results, with the best-performing model achieving high accuracy metrics and effectively tracking the actual oil price trends. These models can be valuable for various business applications, such as hedging, trading, and policymaking.</a:t>
            </a:r>
            <a:endParaRPr lang="en-US"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a:effectLst/>
      </p:bgPr>
    </p:bg>
    <p:spTree>
      <p:nvGrpSpPr>
        <p:cNvPr id="1" name=""/>
        <p:cNvGrpSpPr/>
        <p:nvPr/>
      </p:nvGrpSpPr>
      <p:grpSpPr>
        <a:xfrm>
          <a:off x="0" y="0"/>
          <a:ext cx="0" cy="0"/>
          <a:chOff x="0" y="0"/>
          <a:chExt cx="0" cy="0"/>
        </a:xfrm>
      </p:grpSpPr>
      <p:sp>
        <p:nvSpPr>
          <p:cNvPr id="2" name="Object 1"/>
          <p:cNvSpPr/>
          <p:nvPr/>
        </p:nvSpPr>
        <p:spPr>
          <a:xfrm>
            <a:off x="0" y="362901"/>
            <a:ext cx="12188952" cy="509906"/>
          </a:xfrm>
          <a:prstGeom prst="rect">
            <a:avLst/>
          </a:prstGeom>
          <a:noFill/>
        </p:spPr>
        <p:txBody>
          <a:bodyPr wrap="square" lIns="0" tIns="0" rIns="0" bIns="0" rtlCol="0" anchor="t"/>
          <a:lstStyle/>
          <a:p>
            <a:pPr algn="ctr">
              <a:lnSpc>
                <a:spcPts val="4016"/>
              </a:lnSpc>
              <a:buNone/>
            </a:pPr>
            <a:r>
              <a:rPr lang="en-US" sz="3188" dirty="0">
                <a:solidFill>
                  <a:srgbClr val="2A2921"/>
                </a:solidFill>
                <a:latin typeface="Montserrat" pitchFamily="34" charset="0"/>
                <a:ea typeface="Montserrat" pitchFamily="34" charset="-122"/>
                <a:cs typeface="Montserrat" pitchFamily="34" charset="-120"/>
              </a:rPr>
              <a:t>Future Work</a:t>
            </a:r>
            <a:endParaRPr lang="en-US" dirty="0"/>
          </a:p>
        </p:txBody>
      </p:sp>
      <p:pic>
        <p:nvPicPr>
          <p:cNvPr id="3" name="Object 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43831" y="1936069"/>
            <a:ext cx="876081" cy="828468"/>
          </a:xfrm>
          <a:prstGeom prst="rect">
            <a:avLst/>
          </a:prstGeom>
        </p:spPr>
      </p:pic>
      <p:sp>
        <p:nvSpPr>
          <p:cNvPr id="4" name="Object 3"/>
          <p:cNvSpPr/>
          <p:nvPr/>
        </p:nvSpPr>
        <p:spPr>
          <a:xfrm>
            <a:off x="372811" y="3143655"/>
            <a:ext cx="3634784" cy="230328"/>
          </a:xfrm>
          <a:prstGeom prst="rect">
            <a:avLst/>
          </a:prstGeom>
          <a:noFill/>
        </p:spPr>
        <p:txBody>
          <a:bodyPr wrap="square" lIns="0" tIns="0" rIns="0" bIns="0" rtlCol="0" anchor="t"/>
          <a:lstStyle/>
          <a:p>
            <a:pPr algn="ctr">
              <a:lnSpc>
                <a:spcPts val="1814"/>
              </a:lnSpc>
              <a:buNone/>
            </a:pPr>
            <a:r>
              <a:rPr lang="en-US" sz="1440" dirty="0">
                <a:solidFill>
                  <a:srgbClr val="2A2921"/>
                </a:solidFill>
                <a:latin typeface="Montserrat" pitchFamily="34" charset="0"/>
                <a:ea typeface="Montserrat" pitchFamily="34" charset="-122"/>
                <a:cs typeface="Montserrat" pitchFamily="34" charset="-120"/>
              </a:rPr>
              <a:t>Incorporate Additional Features</a:t>
            </a:r>
            <a:endParaRPr lang="en-US" dirty="0"/>
          </a:p>
        </p:txBody>
      </p:sp>
      <p:sp>
        <p:nvSpPr>
          <p:cNvPr id="5" name="Object 4"/>
          <p:cNvSpPr/>
          <p:nvPr/>
        </p:nvSpPr>
        <p:spPr>
          <a:xfrm>
            <a:off x="372811" y="3459835"/>
            <a:ext cx="3634784" cy="1066087"/>
          </a:xfrm>
          <a:prstGeom prst="rect">
            <a:avLst/>
          </a:prstGeom>
          <a:noFill/>
        </p:spPr>
        <p:txBody>
          <a:bodyPr wrap="square" lIns="0" tIns="0" rIns="0" bIns="0" rtlCol="0" anchor="t"/>
          <a:lstStyle/>
          <a:p>
            <a:pPr algn="ctr">
              <a:lnSpc>
                <a:spcPts val="1680"/>
              </a:lnSpc>
              <a:spcBef>
                <a:spcPts val="663"/>
              </a:spcBef>
              <a:buNone/>
            </a:pPr>
            <a:r>
              <a:rPr lang="en-US" sz="1200" dirty="0">
                <a:solidFill>
                  <a:srgbClr val="5A5A4C"/>
                </a:solidFill>
                <a:latin typeface="Montserrat" pitchFamily="34" charset="0"/>
                <a:ea typeface="Montserrat" pitchFamily="34" charset="-122"/>
                <a:cs typeface="Montserrat" pitchFamily="34" charset="-120"/>
              </a:rPr>
              <a:t>Explore incorporating macroeconomic indicators, geopolitical events, and weather data that may impact crude oil prices. Use feature engineering techniques to create new, potentially more informative features.</a:t>
            </a:r>
            <a:endParaRPr lang="en-US" dirty="0"/>
          </a:p>
        </p:txBody>
      </p:sp>
      <p:pic>
        <p:nvPicPr>
          <p:cNvPr id="6" name="Object 5"/>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70424" y="1869107"/>
            <a:ext cx="847513" cy="933217"/>
          </a:xfrm>
          <a:prstGeom prst="rect">
            <a:avLst/>
          </a:prstGeom>
        </p:spPr>
      </p:pic>
      <p:sp>
        <p:nvSpPr>
          <p:cNvPr id="7" name="Object 6"/>
          <p:cNvSpPr/>
          <p:nvPr/>
        </p:nvSpPr>
        <p:spPr>
          <a:xfrm>
            <a:off x="4266609" y="3143655"/>
            <a:ext cx="3655733" cy="460657"/>
          </a:xfrm>
          <a:prstGeom prst="rect">
            <a:avLst/>
          </a:prstGeom>
          <a:noFill/>
        </p:spPr>
        <p:txBody>
          <a:bodyPr wrap="square" lIns="0" tIns="0" rIns="0" bIns="0" rtlCol="0" anchor="t"/>
          <a:lstStyle/>
          <a:p>
            <a:pPr algn="ctr">
              <a:lnSpc>
                <a:spcPts val="1814"/>
              </a:lnSpc>
              <a:buNone/>
            </a:pPr>
            <a:r>
              <a:rPr lang="en-US" sz="1440" dirty="0">
                <a:solidFill>
                  <a:srgbClr val="2A2921"/>
                </a:solidFill>
                <a:latin typeface="Montserrat" pitchFamily="34" charset="0"/>
                <a:ea typeface="Montserrat" pitchFamily="34" charset="-122"/>
                <a:cs typeface="Montserrat" pitchFamily="34" charset="-120"/>
              </a:rPr>
              <a:t>Experiment with Deep Learning Techniques</a:t>
            </a:r>
            <a:endParaRPr lang="en-US" dirty="0"/>
          </a:p>
        </p:txBody>
      </p:sp>
      <p:sp>
        <p:nvSpPr>
          <p:cNvPr id="8" name="Object 7"/>
          <p:cNvSpPr/>
          <p:nvPr/>
        </p:nvSpPr>
        <p:spPr>
          <a:xfrm>
            <a:off x="4266609" y="3690164"/>
            <a:ext cx="3655733" cy="1279304"/>
          </a:xfrm>
          <a:prstGeom prst="rect">
            <a:avLst/>
          </a:prstGeom>
          <a:noFill/>
        </p:spPr>
        <p:txBody>
          <a:bodyPr wrap="square" lIns="0" tIns="0" rIns="0" bIns="0" rtlCol="0" anchor="t"/>
          <a:lstStyle/>
          <a:p>
            <a:pPr algn="ctr">
              <a:lnSpc>
                <a:spcPts val="1680"/>
              </a:lnSpc>
              <a:spcBef>
                <a:spcPts val="663"/>
              </a:spcBef>
              <a:buNone/>
            </a:pPr>
            <a:r>
              <a:rPr lang="en-US" sz="1200" dirty="0">
                <a:solidFill>
                  <a:srgbClr val="5A5A4C"/>
                </a:solidFill>
                <a:latin typeface="Montserrat" pitchFamily="34" charset="0"/>
                <a:ea typeface="Montserrat" pitchFamily="34" charset="-122"/>
                <a:cs typeface="Montserrat" pitchFamily="34" charset="-120"/>
              </a:rPr>
              <a:t>Evaluate the performance of deep learning models, such as recurrent neural networks (RNNs), long short-term memory (LSTMs), and transformer-based models, which have shown promising results in time series forecasting tasks.</a:t>
            </a:r>
            <a:endParaRPr lang="en-US" dirty="0"/>
          </a:p>
        </p:txBody>
      </p:sp>
      <p:pic>
        <p:nvPicPr>
          <p:cNvPr id="9" name="Object 8"/>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518901" y="1869123"/>
            <a:ext cx="942739" cy="933217"/>
          </a:xfrm>
          <a:prstGeom prst="rect">
            <a:avLst/>
          </a:prstGeom>
        </p:spPr>
      </p:pic>
      <p:sp>
        <p:nvSpPr>
          <p:cNvPr id="10" name="Object 9"/>
          <p:cNvSpPr/>
          <p:nvPr/>
        </p:nvSpPr>
        <p:spPr>
          <a:xfrm>
            <a:off x="8128983" y="3143655"/>
            <a:ext cx="3739532" cy="460657"/>
          </a:xfrm>
          <a:prstGeom prst="rect">
            <a:avLst/>
          </a:prstGeom>
          <a:noFill/>
        </p:spPr>
        <p:txBody>
          <a:bodyPr wrap="square" lIns="0" tIns="0" rIns="0" bIns="0" rtlCol="0" anchor="t"/>
          <a:lstStyle/>
          <a:p>
            <a:pPr algn="ctr">
              <a:lnSpc>
                <a:spcPts val="1814"/>
              </a:lnSpc>
              <a:buNone/>
            </a:pPr>
            <a:r>
              <a:rPr lang="en-US" sz="1440" dirty="0">
                <a:solidFill>
                  <a:srgbClr val="2A2921"/>
                </a:solidFill>
                <a:latin typeface="Montserrat" pitchFamily="34" charset="0"/>
                <a:ea typeface="Montserrat" pitchFamily="34" charset="-122"/>
                <a:cs typeface="Montserrat" pitchFamily="34" charset="-120"/>
              </a:rPr>
              <a:t>Implement Real-time Deployment with APIs</a:t>
            </a:r>
            <a:endParaRPr lang="en-US" dirty="0"/>
          </a:p>
        </p:txBody>
      </p:sp>
      <p:sp>
        <p:nvSpPr>
          <p:cNvPr id="11" name="Object 10"/>
          <p:cNvSpPr/>
          <p:nvPr/>
        </p:nvSpPr>
        <p:spPr>
          <a:xfrm>
            <a:off x="8128983" y="3690164"/>
            <a:ext cx="3739532" cy="1492522"/>
          </a:xfrm>
          <a:prstGeom prst="rect">
            <a:avLst/>
          </a:prstGeom>
          <a:noFill/>
        </p:spPr>
        <p:txBody>
          <a:bodyPr wrap="square" lIns="0" tIns="0" rIns="0" bIns="0" rtlCol="0" anchor="t"/>
          <a:lstStyle/>
          <a:p>
            <a:pPr algn="ctr">
              <a:lnSpc>
                <a:spcPts val="1680"/>
              </a:lnSpc>
              <a:spcBef>
                <a:spcPts val="663"/>
              </a:spcBef>
              <a:buNone/>
            </a:pPr>
            <a:r>
              <a:rPr lang="en-US" sz="1200" dirty="0">
                <a:solidFill>
                  <a:srgbClr val="5A5A4C"/>
                </a:solidFill>
                <a:latin typeface="Montserrat" pitchFamily="34" charset="0"/>
                <a:ea typeface="Montserrat" pitchFamily="34" charset="-122"/>
                <a:cs typeface="Montserrat" pitchFamily="34" charset="-120"/>
              </a:rPr>
              <a:t>Develop a system that can ingest real-time data from various sources, such as commodity exchanges or news feeds, and provide up-to-date price forecasts. Integrate the forecasting models into a web-based or mobile application, exposing the predictions through a user-friendly API.</a:t>
            </a:r>
            <a:endParaRPr lang="en-US" dirty="0"/>
          </a:p>
        </p:txBody>
      </p:sp>
      <p:sp>
        <p:nvSpPr>
          <p:cNvPr id="12" name="Object 11"/>
          <p:cNvSpPr/>
          <p:nvPr/>
        </p:nvSpPr>
        <p:spPr>
          <a:xfrm>
            <a:off x="0" y="5713571"/>
            <a:ext cx="12188952" cy="1142714"/>
          </a:xfrm>
          <a:prstGeom prst="rect">
            <a:avLst/>
          </a:prstGeom>
          <a:solidFill>
            <a:srgbClr val="14558C"/>
          </a:solidFill>
        </p:spPr>
      </p:sp>
      <p:sp>
        <p:nvSpPr>
          <p:cNvPr id="13" name="Object 12"/>
          <p:cNvSpPr/>
          <p:nvPr/>
        </p:nvSpPr>
        <p:spPr>
          <a:xfrm>
            <a:off x="-133317" y="6035406"/>
            <a:ext cx="12455585" cy="489522"/>
          </a:xfrm>
          <a:prstGeom prst="rect">
            <a:avLst/>
          </a:prstGeom>
          <a:noFill/>
        </p:spPr>
        <p:txBody>
          <a:bodyPr wrap="square" lIns="0" tIns="0" rIns="0" bIns="0" rtlCol="0" anchor="ctr"/>
          <a:lstStyle/>
          <a:p>
            <a:pPr algn="ctr">
              <a:lnSpc>
                <a:spcPts val="1927"/>
              </a:lnSpc>
              <a:buNone/>
            </a:pPr>
            <a:r>
              <a:rPr lang="en-US" sz="1530" dirty="0">
                <a:solidFill>
                  <a:srgbClr val="FFFFFF"/>
                </a:solidFill>
                <a:latin typeface="Montserrat" pitchFamily="34" charset="0"/>
                <a:ea typeface="Montserrat" pitchFamily="34" charset="-122"/>
                <a:cs typeface="Montserrat" pitchFamily="34" charset="-120"/>
              </a:rPr>
              <a:t>By addressing these future work directions, the crude oil price prediction system can be further enhanced, providing more accurate and timely forecasts to support decision-making processes in the energy and financial sectors.</a:t>
            </a:r>
            <a:endParaRPr lang="en-US"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13">
    <p:bg>
      <p:bgPr>
        <a:solidFill>
          <a:srgbClr val="F5F5F5"/>
        </a:solidFill>
        <a:effectLst/>
      </p:bgPr>
    </p:bg>
    <p:spTree>
      <p:nvGrpSpPr>
        <p:cNvPr id="1" name=""/>
        <p:cNvGrpSpPr/>
        <p:nvPr/>
      </p:nvGrpSpPr>
      <p:grpSpPr>
        <a:xfrm>
          <a:off x="0" y="0"/>
          <a:ext cx="0" cy="0"/>
          <a:chOff x="0" y="0"/>
          <a:chExt cx="0" cy="0"/>
        </a:xfrm>
      </p:grpSpPr>
      <p:sp>
        <p:nvSpPr>
          <p:cNvPr id="2" name="Object 1"/>
          <p:cNvSpPr/>
          <p:nvPr/>
        </p:nvSpPr>
        <p:spPr>
          <a:xfrm>
            <a:off x="7218145" y="476131"/>
            <a:ext cx="4494676" cy="5904024"/>
          </a:xfrm>
          <a:prstGeom prst="rect">
            <a:avLst/>
          </a:prstGeom>
          <a:solidFill>
            <a:srgbClr val="62A8BB"/>
          </a:solidFill>
        </p:spPr>
      </p:sp>
      <p:pic>
        <p:nvPicPr>
          <p:cNvPr id="3" name="Object 2" descr="question mark"/>
          <p:cNvPicPr>
            <a:picLocks noChangeAspect="1"/>
          </p:cNvPicPr>
          <p:nvPr/>
        </p:nvPicPr>
        <p:blipFill>
          <a:blip r:embed="rId3"/>
          <a:srcRect l="11935" r="11935"/>
          <a:stretch/>
        </p:blipFill>
        <p:spPr>
          <a:xfrm>
            <a:off x="7218145" y="476131"/>
            <a:ext cx="4494676" cy="5904024"/>
          </a:xfrm>
          <a:prstGeom prst="rect">
            <a:avLst/>
          </a:prstGeom>
        </p:spPr>
      </p:pic>
      <p:sp>
        <p:nvSpPr>
          <p:cNvPr id="4" name="Object 3"/>
          <p:cNvSpPr/>
          <p:nvPr/>
        </p:nvSpPr>
        <p:spPr>
          <a:xfrm>
            <a:off x="183787" y="2319799"/>
            <a:ext cx="6850572" cy="509906"/>
          </a:xfrm>
          <a:prstGeom prst="rect">
            <a:avLst/>
          </a:prstGeom>
          <a:noFill/>
        </p:spPr>
        <p:txBody>
          <a:bodyPr wrap="square" lIns="0" tIns="0" rIns="0" bIns="0" rtlCol="0" anchor="ctr"/>
          <a:lstStyle/>
          <a:p>
            <a:pPr algn="ctr">
              <a:lnSpc>
                <a:spcPts val="4016"/>
              </a:lnSpc>
              <a:buNone/>
            </a:pPr>
            <a:r>
              <a:rPr lang="en-US" sz="3188" dirty="0">
                <a:solidFill>
                  <a:srgbClr val="2A2921"/>
                </a:solidFill>
                <a:latin typeface="Montserrat" pitchFamily="34" charset="0"/>
                <a:ea typeface="Montserrat" pitchFamily="34" charset="-122"/>
                <a:cs typeface="Montserrat" pitchFamily="34" charset="-120"/>
              </a:rPr>
              <a:t>Thank You</a:t>
            </a:r>
            <a:endParaRPr lang="en-US" dirty="0"/>
          </a:p>
        </p:txBody>
      </p:sp>
      <p:sp>
        <p:nvSpPr>
          <p:cNvPr id="5" name="Object 4"/>
          <p:cNvSpPr/>
          <p:nvPr/>
        </p:nvSpPr>
        <p:spPr>
          <a:xfrm>
            <a:off x="183787" y="2938025"/>
            <a:ext cx="6850572" cy="1535522"/>
          </a:xfrm>
          <a:prstGeom prst="rect">
            <a:avLst/>
          </a:prstGeom>
          <a:noFill/>
        </p:spPr>
        <p:txBody>
          <a:bodyPr wrap="square" lIns="0" tIns="0" rIns="0" bIns="0" rtlCol="0" anchor="ctr"/>
          <a:lstStyle/>
          <a:p>
            <a:pPr algn="ctr">
              <a:lnSpc>
                <a:spcPts val="2016"/>
              </a:lnSpc>
              <a:spcBef>
                <a:spcPts val="836"/>
              </a:spcBef>
              <a:buNone/>
            </a:pPr>
            <a:r>
              <a:rPr lang="en-US" sz="1440" dirty="0">
                <a:solidFill>
                  <a:srgbClr val="5A5A4C"/>
                </a:solidFill>
                <a:latin typeface="Montserrat" pitchFamily="34" charset="0"/>
                <a:ea typeface="Montserrat" pitchFamily="34" charset="-122"/>
                <a:cs typeface="Montserrat" pitchFamily="34" charset="-120"/>
              </a:rPr>
              <a:t>Thank you all for your time and attention today. We've covered a lot of ground in our presentation on the Oil Price Prediction project. I'm excited to hear your thoughts and answer any questions you may have. Please feel free to ask about the models, the deployment, or any other aspect of the project. I'm here to provide further clarity and address any concerns you may have.</a:t>
            </a:r>
            <a:endParaRPr lang="en-US"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a:effectLst/>
      </p:bgPr>
    </p:bg>
    <p:spTree>
      <p:nvGrpSpPr>
        <p:cNvPr id="1" name=""/>
        <p:cNvGrpSpPr/>
        <p:nvPr/>
      </p:nvGrpSpPr>
      <p:grpSpPr>
        <a:xfrm>
          <a:off x="0" y="0"/>
          <a:ext cx="0" cy="0"/>
          <a:chOff x="0" y="0"/>
          <a:chExt cx="0" cy="0"/>
        </a:xfrm>
      </p:grpSpPr>
      <p:sp>
        <p:nvSpPr>
          <p:cNvPr id="2" name="Object 1"/>
          <p:cNvSpPr/>
          <p:nvPr/>
        </p:nvSpPr>
        <p:spPr>
          <a:xfrm>
            <a:off x="476131" y="476131"/>
            <a:ext cx="4045208" cy="5904024"/>
          </a:xfrm>
          <a:prstGeom prst="rect">
            <a:avLst/>
          </a:prstGeom>
          <a:solidFill>
            <a:srgbClr val="62A8BB"/>
          </a:solidFill>
        </p:spPr>
      </p:sp>
      <p:pic>
        <p:nvPicPr>
          <p:cNvPr id="3" name="Object 2" descr="oil price forecast"/>
          <p:cNvPicPr>
            <a:picLocks noChangeAspect="1"/>
          </p:cNvPicPr>
          <p:nvPr/>
        </p:nvPicPr>
        <p:blipFill>
          <a:blip r:embed="rId3"/>
          <a:srcRect l="27161" r="27161"/>
          <a:stretch/>
        </p:blipFill>
        <p:spPr>
          <a:xfrm>
            <a:off x="476131" y="476131"/>
            <a:ext cx="4045208" cy="5904024"/>
          </a:xfrm>
          <a:prstGeom prst="rect">
            <a:avLst/>
          </a:prstGeom>
        </p:spPr>
      </p:pic>
      <p:sp>
        <p:nvSpPr>
          <p:cNvPr id="4" name="Object 3"/>
          <p:cNvSpPr/>
          <p:nvPr/>
        </p:nvSpPr>
        <p:spPr>
          <a:xfrm>
            <a:off x="4762262" y="1697704"/>
            <a:ext cx="7185768" cy="3454925"/>
          </a:xfrm>
          <a:prstGeom prst="rect">
            <a:avLst/>
          </a:prstGeom>
          <a:noFill/>
        </p:spPr>
        <p:txBody>
          <a:bodyPr wrap="square" lIns="0" tIns="0" rIns="0" bIns="0" rtlCol="0" anchor="ctr"/>
          <a:lstStyle/>
          <a:p>
            <a:pPr algn="ctr">
              <a:lnSpc>
                <a:spcPts val="2268"/>
              </a:lnSpc>
              <a:buNone/>
            </a:pPr>
            <a:r>
              <a:rPr lang="en-US" sz="1800" dirty="0">
                <a:solidFill>
                  <a:srgbClr val="FFFFFF"/>
                </a:solidFill>
                <a:latin typeface="Montserrat" pitchFamily="34" charset="0"/>
                <a:ea typeface="Montserrat" pitchFamily="34" charset="-122"/>
                <a:cs typeface="Montserrat" pitchFamily="34" charset="-120"/>
              </a:rPr>
              <a:t>The oil price prediction models developed in this project have demonstrated strong performance, with the best model achieving impressive accuracy metrics. These models can effectively track and forecast crude oil price trends, making them a valuable tool for businesses in hedging, trading, and policymaking decisions. Moving forward, the project aims to further enhance its capabilities by incorporating additional data sources, exploring advanced deep learning techniques, and enabling real-time deployment through APIs, ensuring the continued relevance and applicability of these models in the dynamic oil market.</a:t>
            </a:r>
            <a:endParaRPr lang="en-US"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TotalTime>
  <Words>1464</Words>
  <Application>Microsoft Office PowerPoint</Application>
  <PresentationFormat>Widescreen</PresentationFormat>
  <Paragraphs>136</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Courier New</vt:lpstr>
      <vt:lpstr>Consolas</vt:lpstr>
      <vt:lpstr>Arial</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Beautiful.ai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Oil Price Prediction</dc:title>
  <dc:subject>Oil Price Prediction</dc:subject>
  <dc:creator>nomangraphics001@signinid.com</dc:creator>
  <cp:lastModifiedBy>Varun Gowda</cp:lastModifiedBy>
  <cp:revision>25</cp:revision>
  <dcterms:created xsi:type="dcterms:W3CDTF">2025-09-23T09:00:40Z</dcterms:created>
  <dcterms:modified xsi:type="dcterms:W3CDTF">2025-10-03T15:37:36Z</dcterms:modified>
</cp:coreProperties>
</file>